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68" r:id="rId14"/>
    <p:sldId id="28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748C2-932F-49E5-B001-79E9C132175C}" type="datetimeFigureOut">
              <a:rPr lang="uk-UA" smtClean="0"/>
              <a:t>10.07.2026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73AB-99CD-4D1C-9FD4-6B36706DE5A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527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6397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0095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09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16.svg"/><Relationship Id="rId4" Type="http://schemas.openxmlformats.org/officeDocument/2006/relationships/image" Target="../media/image11.sv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pic>
        <p:nvPicPr>
          <p:cNvPr id="6" name="Picture 5" descr="mini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22" y="207940"/>
            <a:ext cx="258139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720" y="206054"/>
            <a:ext cx="5212080" cy="69871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 dirty="0" err="1">
                <a:solidFill>
                  <a:srgbClr val="1F2933"/>
                </a:solidFill>
                <a:latin typeface="Arial"/>
              </a:rPr>
              <a:t>Міністерство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освіти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і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науки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України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
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Харківський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національний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університет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радіоелектроніки</a:t>
            </a:r>
            <a:endParaRPr sz="1400" b="1" dirty="0">
              <a:solidFill>
                <a:srgbClr val="1F2933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10698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400" b="1">
                <a:solidFill>
                  <a:srgbClr val="1F2933"/>
                </a:solidFill>
                <a:latin typeface="Arial"/>
              </a:rPr>
              <a:t>Кваліфікаційна робота бакалавра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7223760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0" dirty="0" err="1">
                <a:solidFill>
                  <a:srgbClr val="2F343A"/>
                </a:solidFill>
                <a:latin typeface="Arial"/>
              </a:rPr>
              <a:t>Програмна</a:t>
            </a:r>
            <a:r>
              <a:rPr sz="1600" b="0" dirty="0">
                <a:solidFill>
                  <a:srgbClr val="2F343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F343A"/>
                </a:solidFill>
                <a:latin typeface="Arial"/>
              </a:rPr>
              <a:t>система</a:t>
            </a:r>
            <a:r>
              <a:rPr sz="1600" b="0" dirty="0">
                <a:solidFill>
                  <a:srgbClr val="2F343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F343A"/>
                </a:solidFill>
                <a:latin typeface="Arial"/>
              </a:rPr>
              <a:t>моніторингу</a:t>
            </a:r>
            <a:r>
              <a:rPr sz="1600" b="0" dirty="0">
                <a:solidFill>
                  <a:srgbClr val="2F343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F343A"/>
                </a:solidFill>
                <a:latin typeface="Arial"/>
              </a:rPr>
              <a:t>технічного</a:t>
            </a:r>
            <a:r>
              <a:rPr sz="1600" b="0" dirty="0">
                <a:solidFill>
                  <a:srgbClr val="2F343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F343A"/>
                </a:solidFill>
                <a:latin typeface="Arial"/>
              </a:rPr>
              <a:t>стану</a:t>
            </a:r>
            <a:r>
              <a:rPr sz="1600" b="0" dirty="0">
                <a:solidFill>
                  <a:srgbClr val="2F343A"/>
                </a:solidFill>
                <a:latin typeface="Arial"/>
              </a:rPr>
              <a:t>
</a:t>
            </a:r>
            <a:r>
              <a:rPr sz="1600" b="0" dirty="0" err="1">
                <a:solidFill>
                  <a:srgbClr val="2F343A"/>
                </a:solidFill>
                <a:latin typeface="Arial"/>
              </a:rPr>
              <a:t>автомобіля</a:t>
            </a:r>
            <a:r>
              <a:rPr sz="1600" b="0" dirty="0">
                <a:solidFill>
                  <a:srgbClr val="2F343A"/>
                </a:solidFill>
                <a:latin typeface="Arial"/>
              </a:rPr>
              <a:t> з </a:t>
            </a:r>
            <a:r>
              <a:rPr sz="1600" b="0" dirty="0" err="1">
                <a:solidFill>
                  <a:srgbClr val="2F343A"/>
                </a:solidFill>
                <a:latin typeface="Arial"/>
              </a:rPr>
              <a:t>використанням</a:t>
            </a:r>
            <a:r>
              <a:rPr sz="1600" b="0" dirty="0">
                <a:solidFill>
                  <a:srgbClr val="2F343A"/>
                </a:solidFill>
                <a:latin typeface="Arial"/>
              </a:rPr>
              <a:t> IoT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93592"/>
            <a:ext cx="11201400" cy="10972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57400" y="3383280"/>
            <a:ext cx="512064" cy="512064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 b="1" dirty="0">
              <a:solidFill>
                <a:srgbClr val="111827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1720" y="4480560"/>
            <a:ext cx="2286000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 err="1">
                <a:solidFill>
                  <a:srgbClr val="1F2933"/>
                </a:solidFill>
                <a:latin typeface="Arial"/>
              </a:rPr>
              <a:t>Виконав</a:t>
            </a:r>
            <a:r>
              <a:rPr sz="1600" b="1" dirty="0">
                <a:solidFill>
                  <a:srgbClr val="1F2933"/>
                </a:solidFill>
                <a:latin typeface="Arial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846320"/>
            <a:ext cx="2286000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 dirty="0" err="1">
                <a:solidFill>
                  <a:srgbClr val="1F2933"/>
                </a:solidFill>
                <a:latin typeface="Arial"/>
              </a:rPr>
              <a:t>ст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</a:t>
            </a:r>
            <a:r>
              <a:rPr sz="1600" b="0" dirty="0" err="1">
                <a:solidFill>
                  <a:srgbClr val="1F2933"/>
                </a:solidFill>
                <a:latin typeface="Arial"/>
              </a:rPr>
              <a:t>гр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ПЗПІ-22-9
</a:t>
            </a:r>
            <a:r>
              <a:rPr sz="1600" b="0" dirty="0" err="1">
                <a:solidFill>
                  <a:srgbClr val="1F2933"/>
                </a:solidFill>
                <a:latin typeface="Arial"/>
              </a:rPr>
              <a:t>Новомлинський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 В. І.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80560"/>
            <a:ext cx="2468880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 err="1">
                <a:solidFill>
                  <a:srgbClr val="1F2933"/>
                </a:solidFill>
                <a:latin typeface="Arial"/>
              </a:rPr>
              <a:t>Науковий</a:t>
            </a:r>
            <a:r>
              <a:rPr sz="16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3"/>
                </a:solidFill>
                <a:latin typeface="Arial"/>
              </a:rPr>
              <a:t>керівник</a:t>
            </a:r>
            <a:r>
              <a:rPr sz="1600" b="1" dirty="0">
                <a:solidFill>
                  <a:srgbClr val="1F2933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846320"/>
            <a:ext cx="2651760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 dirty="0" err="1">
                <a:solidFill>
                  <a:srgbClr val="1F2933"/>
                </a:solidFill>
                <a:latin typeface="Arial"/>
              </a:rPr>
              <a:t>к.т.н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., </a:t>
            </a:r>
            <a:r>
              <a:rPr sz="1600" b="0" dirty="0" err="1">
                <a:solidFill>
                  <a:srgbClr val="1F2933"/>
                </a:solidFill>
                <a:latin typeface="Arial"/>
              </a:rPr>
              <a:t>доц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</a:t>
            </a:r>
            <a:r>
              <a:rPr sz="1600" b="0" dirty="0" err="1">
                <a:solidFill>
                  <a:srgbClr val="1F2933"/>
                </a:solidFill>
                <a:latin typeface="Arial"/>
              </a:rPr>
              <a:t>каф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ПІ
</a:t>
            </a:r>
            <a:r>
              <a:rPr sz="1600" b="0" dirty="0" err="1">
                <a:solidFill>
                  <a:srgbClr val="1F2933"/>
                </a:solidFill>
                <a:latin typeface="Arial"/>
              </a:rPr>
              <a:t>Вечур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 О. В.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3AC6021-6886-5D45-0DB6-06C826EAD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9286" y="206054"/>
            <a:ext cx="2069827" cy="593874"/>
          </a:xfrm>
          <a:prstGeom prst="rect">
            <a:avLst/>
          </a:prstGeom>
        </p:spPr>
      </p:pic>
      <p:pic>
        <p:nvPicPr>
          <p:cNvPr id="20" name="Графіка 19" descr="Lightbulb with solid fill">
            <a:extLst>
              <a:ext uri="{FF2B5EF4-FFF2-40B4-BE49-F238E27FC236}">
                <a16:creationId xmlns:a16="http://schemas.microsoft.com/office/drawing/2014/main" id="{1E158CE3-9BB5-698F-AC3A-62EE8B416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7400" y="3383280"/>
            <a:ext cx="512064" cy="512064"/>
          </a:xfrm>
          <a:prstGeom prst="rect">
            <a:avLst/>
          </a:prstGeom>
        </p:spPr>
      </p:pic>
      <p:sp>
        <p:nvSpPr>
          <p:cNvPr id="22" name="Oval 4">
            <a:extLst>
              <a:ext uri="{FF2B5EF4-FFF2-40B4-BE49-F238E27FC236}">
                <a16:creationId xmlns:a16="http://schemas.microsoft.com/office/drawing/2014/main" id="{5B0B668C-1C67-FF03-BC3A-1325144FCE53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 dirty="0" err="1">
                <a:solidFill>
                  <a:srgbClr val="212D3A"/>
                </a:solidFill>
                <a:latin typeface="Arial"/>
              </a:rPr>
              <a:t>Проблема</a:t>
            </a:r>
            <a:r>
              <a:rPr sz="280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212D3A"/>
                </a:solidFill>
                <a:latin typeface="Arial"/>
              </a:rPr>
              <a:t>та</a:t>
            </a:r>
            <a:r>
              <a:rPr sz="280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212D3A"/>
                </a:solidFill>
                <a:latin typeface="Arial"/>
              </a:rPr>
              <a:t>актуальність</a:t>
            </a:r>
            <a:endParaRPr sz="280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703256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uk-UA" sz="1600" dirty="0">
                <a:solidFill>
                  <a:srgbClr val="5D6978"/>
                </a:solidFill>
                <a:latin typeface="Arial"/>
              </a:rPr>
              <a:t>Ключові проблеми предметної області та підхід </a:t>
            </a:r>
            <a:r>
              <a:rPr lang="en-US" sz="1600" dirty="0" err="1">
                <a:solidFill>
                  <a:srgbClr val="5D6978"/>
                </a:solidFill>
                <a:latin typeface="Arial"/>
              </a:rPr>
              <a:t>Autonexis</a:t>
            </a:r>
            <a:r>
              <a:rPr lang="en-US" sz="1600" dirty="0">
                <a:solidFill>
                  <a:srgbClr val="5D6978"/>
                </a:solidFill>
                <a:latin typeface="Arial"/>
              </a:rPr>
              <a:t> </a:t>
            </a:r>
            <a:r>
              <a:rPr lang="uk-UA" sz="1600" dirty="0">
                <a:solidFill>
                  <a:srgbClr val="5D6978"/>
                </a:solidFill>
                <a:latin typeface="Arial"/>
              </a:rPr>
              <a:t>до їх вирішення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960120" cy="32004"/>
          </a:xfrm>
          <a:prstGeom prst="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0664" y="1317174"/>
            <a:ext cx="438912" cy="438912"/>
          </a:xfrm>
          <a:prstGeom prst="ellipse">
            <a:avLst/>
          </a:prstGeom>
          <a:solidFill>
            <a:srgbClr val="F56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4104" y="1422627"/>
            <a:ext cx="32302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dirty="0" err="1">
                <a:solidFill>
                  <a:srgbClr val="212D3A"/>
                </a:solidFill>
                <a:latin typeface="Arial"/>
              </a:rPr>
              <a:t>Проблеми</a:t>
            </a:r>
            <a:r>
              <a:rPr sz="155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212D3A"/>
                </a:solidFill>
                <a:latin typeface="Arial"/>
              </a:rPr>
              <a:t>предметної</a:t>
            </a:r>
            <a:r>
              <a:rPr sz="155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212D3A"/>
                </a:solidFill>
                <a:latin typeface="Arial"/>
              </a:rPr>
              <a:t>області</a:t>
            </a:r>
            <a:endParaRPr sz="155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9" name="Oval 8"/>
          <p:cNvSpPr/>
          <p:nvPr/>
        </p:nvSpPr>
        <p:spPr>
          <a:xfrm>
            <a:off x="6409944" y="1317174"/>
            <a:ext cx="438912" cy="438912"/>
          </a:xfrm>
          <a:prstGeom prst="ellipse">
            <a:avLst/>
          </a:prstGeom>
          <a:solidFill>
            <a:srgbClr val="00A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9852" y="1417366"/>
            <a:ext cx="173736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dirty="0" err="1">
                <a:solidFill>
                  <a:srgbClr val="212D3A"/>
                </a:solidFill>
                <a:latin typeface="Arial"/>
              </a:rPr>
              <a:t>Підхід</a:t>
            </a:r>
            <a:r>
              <a:rPr sz="155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212D3A"/>
                </a:solidFill>
                <a:latin typeface="Arial"/>
              </a:rPr>
              <a:t>Autonexis</a:t>
            </a:r>
            <a:endParaRPr sz="155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" y="1874519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0664" y="2020824"/>
            <a:ext cx="438912" cy="457200"/>
          </a:xfrm>
          <a:prstGeom prst="round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0208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 dirty="0" err="1">
                <a:solidFill>
                  <a:srgbClr val="212D3A"/>
                </a:solidFill>
                <a:latin typeface="Arial"/>
              </a:rPr>
              <a:t>Пізнє</a:t>
            </a:r>
            <a:r>
              <a:rPr sz="132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320" b="1" dirty="0" err="1">
                <a:solidFill>
                  <a:srgbClr val="212D3A"/>
                </a:solidFill>
                <a:latin typeface="Arial"/>
              </a:rPr>
              <a:t>виявлення</a:t>
            </a:r>
            <a:r>
              <a:rPr sz="132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320" b="1" dirty="0" err="1">
                <a:solidFill>
                  <a:srgbClr val="212D3A"/>
                </a:solidFill>
                <a:latin typeface="Arial"/>
              </a:rPr>
              <a:t>несправностей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5024" y="2267712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 err="1">
                <a:solidFill>
                  <a:srgbClr val="5C6979"/>
                </a:solidFill>
                <a:latin typeface="Arial"/>
              </a:rPr>
              <a:t>Власник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часто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бачить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проблему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лише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після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появи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симптомів</a:t>
            </a:r>
            <a:endParaRPr sz="1050" dirty="0">
              <a:solidFill>
                <a:srgbClr val="5C6979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27889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0664" y="2935224"/>
            <a:ext cx="438912" cy="457200"/>
          </a:xfrm>
          <a:prstGeom prst="round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9352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12D3A"/>
                </a:solidFill>
                <a:latin typeface="Arial"/>
              </a:rPr>
              <a:t>Розрізненість даних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31821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 err="1">
                <a:solidFill>
                  <a:srgbClr val="5C6979"/>
                </a:solidFill>
                <a:latin typeface="Arial"/>
              </a:rPr>
              <a:t>Телеметрія</a:t>
            </a:r>
            <a:r>
              <a:rPr sz="1050" dirty="0">
                <a:solidFill>
                  <a:srgbClr val="5C6979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попередження</a:t>
            </a:r>
            <a:r>
              <a:rPr sz="1050" dirty="0">
                <a:solidFill>
                  <a:srgbClr val="5C6979"/>
                </a:solidFill>
                <a:latin typeface="Arial"/>
              </a:rPr>
              <a:t> й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сервісна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інформація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не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пов’язані</a:t>
            </a:r>
            <a:r>
              <a:rPr sz="1050" dirty="0">
                <a:solidFill>
                  <a:srgbClr val="5C6979"/>
                </a:solidFill>
                <a:latin typeface="Arial"/>
              </a:rPr>
              <a:t> в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один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процес</a:t>
            </a:r>
            <a:endParaRPr sz="1050" dirty="0">
              <a:solidFill>
                <a:srgbClr val="5C6979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" y="37033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664" y="3849624"/>
            <a:ext cx="438912" cy="457200"/>
          </a:xfrm>
          <a:prstGeom prst="round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8496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12D3A"/>
                </a:solidFill>
                <a:latin typeface="Arial"/>
              </a:rPr>
              <a:t>Закритість готових рішень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096511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 err="1">
                <a:solidFill>
                  <a:srgbClr val="5C6979"/>
                </a:solidFill>
                <a:latin typeface="Arial"/>
              </a:rPr>
              <a:t>Складно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змінювати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правила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обробки</a:t>
            </a:r>
            <a:r>
              <a:rPr sz="1050" dirty="0">
                <a:solidFill>
                  <a:srgbClr val="5C6979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структуру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даних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та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інтеграції</a:t>
            </a:r>
            <a:endParaRPr sz="1050" dirty="0">
              <a:solidFill>
                <a:srgbClr val="5C6979"/>
              </a:solidFill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1792" y="46177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0664" y="4764024"/>
            <a:ext cx="438912" cy="457200"/>
          </a:xfrm>
          <a:prstGeom prst="round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47640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12D3A"/>
                </a:solidFill>
                <a:latin typeface="Arial"/>
              </a:rPr>
              <a:t>Недостатній поділ ролей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50109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 err="1">
                <a:solidFill>
                  <a:srgbClr val="5C6979"/>
                </a:solidFill>
                <a:latin typeface="Arial"/>
              </a:rPr>
              <a:t>Власнику</a:t>
            </a:r>
            <a:r>
              <a:rPr sz="1050" dirty="0">
                <a:solidFill>
                  <a:srgbClr val="5C6979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спеціалісту</a:t>
            </a:r>
            <a:r>
              <a:rPr sz="1050" dirty="0">
                <a:solidFill>
                  <a:srgbClr val="5C6979"/>
                </a:solidFill>
                <a:latin typeface="Arial"/>
              </a:rPr>
              <a:t> й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адміністратору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потрібні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різні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сценарії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роботи</a:t>
            </a:r>
            <a:endParaRPr sz="1050" dirty="0">
              <a:solidFill>
                <a:srgbClr val="5C6979"/>
              </a:solidFill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91072" y="1874519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9944" y="2020824"/>
            <a:ext cx="438912" cy="457200"/>
          </a:xfrm>
          <a:prstGeom prst="roundRect">
            <a:avLst/>
          </a:prstGeom>
          <a:solidFill>
            <a:srgbClr val="00A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20208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12D3A"/>
                </a:solidFill>
                <a:latin typeface="Arial"/>
              </a:rPr>
              <a:t>IoT-моніторинг автомобіля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2267712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5C6979"/>
                </a:solidFill>
                <a:latin typeface="Arial"/>
              </a:rPr>
              <a:t>ESP32/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Wokwi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формує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телеметрію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та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передає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її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через</a:t>
            </a:r>
            <a:r>
              <a:rPr sz="1050" dirty="0">
                <a:solidFill>
                  <a:srgbClr val="5C6979"/>
                </a:solidFill>
                <a:latin typeface="Arial"/>
              </a:rPr>
              <a:t> MQTT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27889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9944" y="2935224"/>
            <a:ext cx="438912" cy="457200"/>
          </a:xfrm>
          <a:prstGeom prst="roundRect">
            <a:avLst/>
          </a:prstGeom>
          <a:solidFill>
            <a:srgbClr val="00A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29352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12D3A"/>
                </a:solidFill>
                <a:latin typeface="Arial"/>
              </a:rPr>
              <a:t>Централізована обробка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4" y="31821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5C6979"/>
                </a:solidFill>
                <a:latin typeface="Arial"/>
              </a:rPr>
              <a:t>Go backend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перевіряє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дані</a:t>
            </a:r>
            <a:r>
              <a:rPr sz="1050" dirty="0">
                <a:solidFill>
                  <a:srgbClr val="5C6979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зберігає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їх</a:t>
            </a:r>
            <a:r>
              <a:rPr sz="1050" dirty="0">
                <a:solidFill>
                  <a:srgbClr val="5C6979"/>
                </a:solidFill>
                <a:latin typeface="Arial"/>
              </a:rPr>
              <a:t> у PostgreSQL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та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надає</a:t>
            </a:r>
            <a:r>
              <a:rPr sz="1050" dirty="0">
                <a:solidFill>
                  <a:srgbClr val="5C6979"/>
                </a:solidFill>
                <a:latin typeface="Arial"/>
              </a:rPr>
              <a:t> REST 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37033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9944" y="3849624"/>
            <a:ext cx="438912" cy="457200"/>
          </a:xfrm>
          <a:prstGeom prst="roundRect">
            <a:avLst/>
          </a:prstGeom>
          <a:solidFill>
            <a:srgbClr val="00A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304" y="38496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12D3A"/>
                </a:solidFill>
                <a:latin typeface="Arial"/>
              </a:rPr>
              <a:t>Реакція на відхилення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4096511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 err="1">
                <a:solidFill>
                  <a:srgbClr val="5C6979"/>
                </a:solidFill>
                <a:latin typeface="Arial"/>
              </a:rPr>
              <a:t>Порогова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логіка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формує</a:t>
            </a:r>
            <a:r>
              <a:rPr sz="1050" dirty="0">
                <a:solidFill>
                  <a:srgbClr val="5C6979"/>
                </a:solidFill>
                <a:latin typeface="Arial"/>
              </a:rPr>
              <a:t> warning/critical</a:t>
            </a:r>
            <a:r>
              <a:rPr lang="uk-UA" sz="1050" dirty="0">
                <a:solidFill>
                  <a:srgbClr val="5C6979"/>
                </a:solidFill>
                <a:latin typeface="Arial"/>
              </a:rPr>
              <a:t>-попередження</a:t>
            </a:r>
            <a:r>
              <a:rPr sz="1050" dirty="0">
                <a:solidFill>
                  <a:srgbClr val="5C6979"/>
                </a:solidFill>
                <a:latin typeface="Arial"/>
              </a:rPr>
              <a:t> і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внутрішні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сповіщення</a:t>
            </a:r>
            <a:endParaRPr sz="1050" dirty="0">
              <a:solidFill>
                <a:srgbClr val="5C6979"/>
              </a:solidFill>
              <a:latin typeface="Arial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291072" y="46177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9944" y="4764024"/>
            <a:ext cx="438912" cy="457200"/>
          </a:xfrm>
          <a:prstGeom prst="roundRect">
            <a:avLst/>
          </a:prstGeom>
          <a:solidFill>
            <a:srgbClr val="00A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4304" y="47640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12D3A"/>
                </a:solidFill>
                <a:latin typeface="Arial"/>
              </a:rPr>
              <a:t>Рольові інтерфейси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4304" y="50109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5C6979"/>
                </a:solidFill>
                <a:latin typeface="Arial"/>
              </a:rPr>
              <a:t>Web —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для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адміністратора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й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спеціаліста</a:t>
            </a:r>
            <a:r>
              <a:rPr sz="1050" dirty="0">
                <a:solidFill>
                  <a:srgbClr val="5C6979"/>
                </a:solidFill>
                <a:latin typeface="Arial"/>
              </a:rPr>
              <a:t>, Android —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для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власника</a:t>
            </a:r>
            <a:r>
              <a:rPr sz="1050" dirty="0">
                <a:solidFill>
                  <a:srgbClr val="5C697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5C6979"/>
                </a:solidFill>
                <a:latin typeface="Arial"/>
              </a:rPr>
              <a:t>автомобіля</a:t>
            </a:r>
            <a:endParaRPr sz="1050" dirty="0">
              <a:solidFill>
                <a:srgbClr val="5C6979"/>
              </a:solidFill>
              <a:latin typeface="Arial"/>
            </a:endParaRPr>
          </a:p>
        </p:txBody>
      </p:sp>
      <p:sp>
        <p:nvSpPr>
          <p:cNvPr id="46" name="Oval 4">
            <a:extLst>
              <a:ext uri="{FF2B5EF4-FFF2-40B4-BE49-F238E27FC236}">
                <a16:creationId xmlns:a16="http://schemas.microsoft.com/office/drawing/2014/main" id="{17D6E7D7-F5B6-EC63-D428-0820A2E7CFA4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2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pic>
        <p:nvPicPr>
          <p:cNvPr id="47" name="Picture 3" descr="se_logo_cropped.png">
            <a:extLst>
              <a:ext uri="{FF2B5EF4-FFF2-40B4-BE49-F238E27FC236}">
                <a16:creationId xmlns:a16="http://schemas.microsoft.com/office/drawing/2014/main" id="{54F710FA-14FC-6816-1F8B-805F9DFCB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grpSp>
        <p:nvGrpSpPr>
          <p:cNvPr id="76" name="Групувати 75">
            <a:extLst>
              <a:ext uri="{FF2B5EF4-FFF2-40B4-BE49-F238E27FC236}">
                <a16:creationId xmlns:a16="http://schemas.microsoft.com/office/drawing/2014/main" id="{8BD3F37A-3C38-6E84-AA23-BA338262BF11}"/>
              </a:ext>
            </a:extLst>
          </p:cNvPr>
          <p:cNvGrpSpPr/>
          <p:nvPr/>
        </p:nvGrpSpPr>
        <p:grpSpPr>
          <a:xfrm>
            <a:off x="2565615" y="5679318"/>
            <a:ext cx="6395505" cy="886968"/>
            <a:chOff x="2469602" y="5534462"/>
            <a:chExt cx="6395505" cy="886968"/>
          </a:xfrm>
        </p:grpSpPr>
        <p:grpSp>
          <p:nvGrpSpPr>
            <p:cNvPr id="43" name="Групувати 42">
              <a:extLst>
                <a:ext uri="{FF2B5EF4-FFF2-40B4-BE49-F238E27FC236}">
                  <a16:creationId xmlns:a16="http://schemas.microsoft.com/office/drawing/2014/main" id="{B9A8FE4A-D0A6-7485-2CCC-FA7BFE5FEE28}"/>
                </a:ext>
              </a:extLst>
            </p:cNvPr>
            <p:cNvGrpSpPr/>
            <p:nvPr/>
          </p:nvGrpSpPr>
          <p:grpSpPr>
            <a:xfrm>
              <a:off x="2469602" y="5534462"/>
              <a:ext cx="1325880" cy="384048"/>
              <a:chOff x="1243584" y="4690872"/>
              <a:chExt cx="1325880" cy="384048"/>
            </a:xfrm>
          </p:grpSpPr>
          <p:sp>
            <p:nvSpPr>
              <p:cNvPr id="44" name="Rounded Rectangle 4">
                <a:extLst>
                  <a:ext uri="{FF2B5EF4-FFF2-40B4-BE49-F238E27FC236}">
                    <a16:creationId xmlns:a16="http://schemas.microsoft.com/office/drawing/2014/main" id="{AD0CA7C0-55DA-6605-E2AA-10A1C00D54AB}"/>
                  </a:ext>
                </a:extLst>
              </p:cNvPr>
              <p:cNvSpPr/>
              <p:nvPr/>
            </p:nvSpPr>
            <p:spPr>
              <a:xfrm>
                <a:off x="1243584" y="4690872"/>
                <a:ext cx="1325880" cy="384048"/>
              </a:xfrm>
              <a:prstGeom prst="roundRect">
                <a:avLst/>
              </a:prstGeom>
              <a:solidFill>
                <a:srgbClr val="F8FAFC"/>
              </a:solidFill>
              <a:ln w="8890">
                <a:solidFill>
                  <a:srgbClr val="D3DA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Oval 5">
                <a:extLst>
                  <a:ext uri="{FF2B5EF4-FFF2-40B4-BE49-F238E27FC236}">
                    <a16:creationId xmlns:a16="http://schemas.microsoft.com/office/drawing/2014/main" id="{4F8170B5-10D2-E063-61D8-6B79B2C508F3}"/>
                  </a:ext>
                </a:extLst>
              </p:cNvPr>
              <p:cNvSpPr/>
              <p:nvPr/>
            </p:nvSpPr>
            <p:spPr>
              <a:xfrm>
                <a:off x="1316736" y="4809744"/>
                <a:ext cx="137160" cy="13716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8600C2-7F00-043F-D42E-A92B77AFD731}"/>
                  </a:ext>
                </a:extLst>
              </p:cNvPr>
              <p:cNvSpPr txBox="1"/>
              <p:nvPr/>
            </p:nvSpPr>
            <p:spPr>
              <a:xfrm>
                <a:off x="1499616" y="4764024"/>
                <a:ext cx="960120" cy="10972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30" b="1">
                    <a:solidFill>
                      <a:srgbClr val="232D3A"/>
                    </a:solidFill>
                    <a:latin typeface="Arial"/>
                  </a:rPr>
                  <a:t>FIXD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7260900-FD48-A6D2-3F23-A16530FC9318}"/>
                  </a:ext>
                </a:extLst>
              </p:cNvPr>
              <p:cNvSpPr txBox="1"/>
              <p:nvPr/>
            </p:nvSpPr>
            <p:spPr>
              <a:xfrm>
                <a:off x="1499616" y="4901184"/>
                <a:ext cx="960120" cy="123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00" b="0" dirty="0">
                    <a:solidFill>
                      <a:srgbClr val="667181"/>
                    </a:solidFill>
                    <a:latin typeface="Arial"/>
                  </a:rPr>
                  <a:t>OBD-</a:t>
                </a:r>
                <a:r>
                  <a:rPr sz="800" b="0" dirty="0" err="1">
                    <a:solidFill>
                      <a:srgbClr val="667181"/>
                    </a:solidFill>
                    <a:latin typeface="Arial"/>
                  </a:rPr>
                  <a:t>діагностика</a:t>
                </a:r>
                <a:endParaRPr sz="800" b="0" dirty="0">
                  <a:solidFill>
                    <a:srgbClr val="667181"/>
                  </a:solidFill>
                  <a:latin typeface="Arial"/>
                </a:endParaRPr>
              </a:p>
            </p:txBody>
          </p:sp>
        </p:grpSp>
        <p:grpSp>
          <p:nvGrpSpPr>
            <p:cNvPr id="50" name="Групувати 49">
              <a:extLst>
                <a:ext uri="{FF2B5EF4-FFF2-40B4-BE49-F238E27FC236}">
                  <a16:creationId xmlns:a16="http://schemas.microsoft.com/office/drawing/2014/main" id="{5A872812-E8EE-AB9F-0EA6-5775DC102859}"/>
                </a:ext>
              </a:extLst>
            </p:cNvPr>
            <p:cNvGrpSpPr/>
            <p:nvPr/>
          </p:nvGrpSpPr>
          <p:grpSpPr>
            <a:xfrm>
              <a:off x="2469602" y="6025896"/>
              <a:ext cx="1325880" cy="384048"/>
              <a:chOff x="2679192" y="4690872"/>
              <a:chExt cx="1325880" cy="384048"/>
            </a:xfrm>
          </p:grpSpPr>
          <p:sp>
            <p:nvSpPr>
              <p:cNvPr id="51" name="Rounded Rectangle 8">
                <a:extLst>
                  <a:ext uri="{FF2B5EF4-FFF2-40B4-BE49-F238E27FC236}">
                    <a16:creationId xmlns:a16="http://schemas.microsoft.com/office/drawing/2014/main" id="{1CAEDCDD-6CD5-7260-BB77-E8569C1F74F8}"/>
                  </a:ext>
                </a:extLst>
              </p:cNvPr>
              <p:cNvSpPr/>
              <p:nvPr/>
            </p:nvSpPr>
            <p:spPr>
              <a:xfrm>
                <a:off x="2679192" y="4690872"/>
                <a:ext cx="1325880" cy="384048"/>
              </a:xfrm>
              <a:prstGeom prst="roundRect">
                <a:avLst/>
              </a:prstGeom>
              <a:solidFill>
                <a:srgbClr val="F8FAFC"/>
              </a:solidFill>
              <a:ln w="8890">
                <a:solidFill>
                  <a:srgbClr val="D3DA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Oval 9">
                <a:extLst>
                  <a:ext uri="{FF2B5EF4-FFF2-40B4-BE49-F238E27FC236}">
                    <a16:creationId xmlns:a16="http://schemas.microsoft.com/office/drawing/2014/main" id="{5C584B9E-9BF9-541B-EEA8-88606207DA50}"/>
                  </a:ext>
                </a:extLst>
              </p:cNvPr>
              <p:cNvSpPr/>
              <p:nvPr/>
            </p:nvSpPr>
            <p:spPr>
              <a:xfrm>
                <a:off x="2752344" y="4809744"/>
                <a:ext cx="137160" cy="13716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528A575-BEBA-AB99-763C-78E5C886AD48}"/>
                  </a:ext>
                </a:extLst>
              </p:cNvPr>
              <p:cNvSpPr txBox="1"/>
              <p:nvPr/>
            </p:nvSpPr>
            <p:spPr>
              <a:xfrm>
                <a:off x="2935224" y="4764024"/>
                <a:ext cx="960120" cy="10972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30" b="1">
                    <a:solidFill>
                      <a:srgbClr val="232D3A"/>
                    </a:solidFill>
                    <a:latin typeface="Arial"/>
                  </a:rPr>
                  <a:t>Carly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67C7D73-1B4D-296E-FD3C-2228852D9713}"/>
                  </a:ext>
                </a:extLst>
              </p:cNvPr>
              <p:cNvSpPr txBox="1"/>
              <p:nvPr/>
            </p:nvSpPr>
            <p:spPr>
              <a:xfrm>
                <a:off x="2935224" y="4901184"/>
                <a:ext cx="960120" cy="123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00" b="0" dirty="0" err="1">
                    <a:solidFill>
                      <a:srgbClr val="667181"/>
                    </a:solidFill>
                    <a:latin typeface="Arial"/>
                  </a:rPr>
                  <a:t>діагностика</a:t>
                </a:r>
                <a:endParaRPr sz="800" b="0" dirty="0">
                  <a:solidFill>
                    <a:srgbClr val="667181"/>
                  </a:solidFill>
                  <a:latin typeface="Arial"/>
                </a:endParaRPr>
              </a:p>
            </p:txBody>
          </p:sp>
        </p:grpSp>
        <p:grpSp>
          <p:nvGrpSpPr>
            <p:cNvPr id="55" name="Групувати 54">
              <a:extLst>
                <a:ext uri="{FF2B5EF4-FFF2-40B4-BE49-F238E27FC236}">
                  <a16:creationId xmlns:a16="http://schemas.microsoft.com/office/drawing/2014/main" id="{D36B86E4-4C99-4737-7303-E22EED0AB651}"/>
                </a:ext>
              </a:extLst>
            </p:cNvPr>
            <p:cNvGrpSpPr/>
            <p:nvPr/>
          </p:nvGrpSpPr>
          <p:grpSpPr>
            <a:xfrm>
              <a:off x="3941786" y="5534462"/>
              <a:ext cx="1325880" cy="384048"/>
              <a:chOff x="4114800" y="4690872"/>
              <a:chExt cx="1325880" cy="384048"/>
            </a:xfrm>
          </p:grpSpPr>
          <p:sp>
            <p:nvSpPr>
              <p:cNvPr id="56" name="Rounded Rectangle 12">
                <a:extLst>
                  <a:ext uri="{FF2B5EF4-FFF2-40B4-BE49-F238E27FC236}">
                    <a16:creationId xmlns:a16="http://schemas.microsoft.com/office/drawing/2014/main" id="{3FC622FA-E9F4-D57C-DDA6-91F51A7A9F0B}"/>
                  </a:ext>
                </a:extLst>
              </p:cNvPr>
              <p:cNvSpPr/>
              <p:nvPr/>
            </p:nvSpPr>
            <p:spPr>
              <a:xfrm>
                <a:off x="4114800" y="4690872"/>
                <a:ext cx="1325880" cy="384048"/>
              </a:xfrm>
              <a:prstGeom prst="roundRect">
                <a:avLst/>
              </a:prstGeom>
              <a:solidFill>
                <a:srgbClr val="F8FAFC"/>
              </a:solidFill>
              <a:ln w="8890">
                <a:solidFill>
                  <a:srgbClr val="D3DA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Oval 13">
                <a:extLst>
                  <a:ext uri="{FF2B5EF4-FFF2-40B4-BE49-F238E27FC236}">
                    <a16:creationId xmlns:a16="http://schemas.microsoft.com/office/drawing/2014/main" id="{04CD4CEE-D21C-10E7-D349-0B748D28AE6E}"/>
                  </a:ext>
                </a:extLst>
              </p:cNvPr>
              <p:cNvSpPr/>
              <p:nvPr/>
            </p:nvSpPr>
            <p:spPr>
              <a:xfrm>
                <a:off x="4187952" y="4809744"/>
                <a:ext cx="137160" cy="13716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FE75C94-C6E0-0E41-1EE2-A021072669BA}"/>
                  </a:ext>
                </a:extLst>
              </p:cNvPr>
              <p:cNvSpPr txBox="1"/>
              <p:nvPr/>
            </p:nvSpPr>
            <p:spPr>
              <a:xfrm>
                <a:off x="4370832" y="4764024"/>
                <a:ext cx="960120" cy="10972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30" b="1" dirty="0">
                    <a:solidFill>
                      <a:srgbClr val="232D3A"/>
                    </a:solidFill>
                    <a:latin typeface="Arial"/>
                  </a:rPr>
                  <a:t>Torque Pro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EF9588A-94E1-2B56-436C-B60C711DABC6}"/>
                  </a:ext>
                </a:extLst>
              </p:cNvPr>
              <p:cNvSpPr txBox="1"/>
              <p:nvPr/>
            </p:nvSpPr>
            <p:spPr>
              <a:xfrm>
                <a:off x="4370832" y="4901184"/>
                <a:ext cx="960120" cy="123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00" b="0" dirty="0">
                    <a:solidFill>
                      <a:srgbClr val="667181"/>
                    </a:solidFill>
                    <a:latin typeface="Arial"/>
                  </a:rPr>
                  <a:t>OBD-</a:t>
                </a:r>
                <a:r>
                  <a:rPr sz="800" b="0" dirty="0" err="1">
                    <a:solidFill>
                      <a:srgbClr val="667181"/>
                    </a:solidFill>
                    <a:latin typeface="Arial"/>
                  </a:rPr>
                  <a:t>телеметрія</a:t>
                </a:r>
                <a:endParaRPr sz="800" b="0" dirty="0">
                  <a:solidFill>
                    <a:srgbClr val="667181"/>
                  </a:solidFill>
                  <a:latin typeface="Arial"/>
                </a:endParaRPr>
              </a:p>
            </p:txBody>
          </p:sp>
        </p:grpSp>
        <p:grpSp>
          <p:nvGrpSpPr>
            <p:cNvPr id="60" name="Групувати 59">
              <a:extLst>
                <a:ext uri="{FF2B5EF4-FFF2-40B4-BE49-F238E27FC236}">
                  <a16:creationId xmlns:a16="http://schemas.microsoft.com/office/drawing/2014/main" id="{8902E80F-FBBD-8FEB-77A3-920574E68045}"/>
                </a:ext>
              </a:extLst>
            </p:cNvPr>
            <p:cNvGrpSpPr/>
            <p:nvPr/>
          </p:nvGrpSpPr>
          <p:grpSpPr>
            <a:xfrm>
              <a:off x="3941786" y="6037382"/>
              <a:ext cx="1325880" cy="384048"/>
              <a:chOff x="5550408" y="4690872"/>
              <a:chExt cx="1325880" cy="384048"/>
            </a:xfrm>
          </p:grpSpPr>
          <p:sp>
            <p:nvSpPr>
              <p:cNvPr id="61" name="Rounded Rectangle 16">
                <a:extLst>
                  <a:ext uri="{FF2B5EF4-FFF2-40B4-BE49-F238E27FC236}">
                    <a16:creationId xmlns:a16="http://schemas.microsoft.com/office/drawing/2014/main" id="{A770FC1A-F6EB-7D55-0764-DD32E290F72D}"/>
                  </a:ext>
                </a:extLst>
              </p:cNvPr>
              <p:cNvSpPr/>
              <p:nvPr/>
            </p:nvSpPr>
            <p:spPr>
              <a:xfrm>
                <a:off x="5550408" y="4690872"/>
                <a:ext cx="1325880" cy="384048"/>
              </a:xfrm>
              <a:prstGeom prst="roundRect">
                <a:avLst/>
              </a:prstGeom>
              <a:solidFill>
                <a:srgbClr val="F8FAFC"/>
              </a:solidFill>
              <a:ln w="8890">
                <a:solidFill>
                  <a:srgbClr val="D3DA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Oval 17">
                <a:extLst>
                  <a:ext uri="{FF2B5EF4-FFF2-40B4-BE49-F238E27FC236}">
                    <a16:creationId xmlns:a16="http://schemas.microsoft.com/office/drawing/2014/main" id="{D8EB08FE-3953-B4BE-B955-504AD83AFEB8}"/>
                  </a:ext>
                </a:extLst>
              </p:cNvPr>
              <p:cNvSpPr/>
              <p:nvPr/>
            </p:nvSpPr>
            <p:spPr>
              <a:xfrm>
                <a:off x="5623560" y="4809744"/>
                <a:ext cx="137160" cy="13716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392BBAB-4FF2-5272-13E8-F424CE997313}"/>
                  </a:ext>
                </a:extLst>
              </p:cNvPr>
              <p:cNvSpPr txBox="1"/>
              <p:nvPr/>
            </p:nvSpPr>
            <p:spPr>
              <a:xfrm>
                <a:off x="5806440" y="4764024"/>
                <a:ext cx="960120" cy="10972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30" b="1">
                    <a:solidFill>
                      <a:srgbClr val="232D3A"/>
                    </a:solidFill>
                    <a:latin typeface="Arial"/>
                  </a:rPr>
                  <a:t>Bouncie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18272D9-488C-F40A-FD1B-7EA5DD837232}"/>
                  </a:ext>
                </a:extLst>
              </p:cNvPr>
              <p:cNvSpPr txBox="1"/>
              <p:nvPr/>
            </p:nvSpPr>
            <p:spPr>
              <a:xfrm>
                <a:off x="5806440" y="4901184"/>
                <a:ext cx="960120" cy="123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00" b="0" dirty="0">
                    <a:solidFill>
                      <a:srgbClr val="667181"/>
                    </a:solidFill>
                    <a:latin typeface="Arial"/>
                  </a:rPr>
                  <a:t>GPS / tracking</a:t>
                </a:r>
              </a:p>
            </p:txBody>
          </p:sp>
        </p:grpSp>
        <p:grpSp>
          <p:nvGrpSpPr>
            <p:cNvPr id="65" name="Групувати 64">
              <a:extLst>
                <a:ext uri="{FF2B5EF4-FFF2-40B4-BE49-F238E27FC236}">
                  <a16:creationId xmlns:a16="http://schemas.microsoft.com/office/drawing/2014/main" id="{79EAF13E-26FD-60FC-1D0B-CCB4DB135084}"/>
                </a:ext>
              </a:extLst>
            </p:cNvPr>
            <p:cNvGrpSpPr/>
            <p:nvPr/>
          </p:nvGrpSpPr>
          <p:grpSpPr>
            <a:xfrm>
              <a:off x="5536694" y="5652440"/>
              <a:ext cx="3328413" cy="694944"/>
              <a:chOff x="7690104" y="4321094"/>
              <a:chExt cx="3328413" cy="694944"/>
            </a:xfrm>
          </p:grpSpPr>
          <p:cxnSp>
            <p:nvCxnSpPr>
              <p:cNvPr id="66" name="Connector 21">
                <a:extLst>
                  <a:ext uri="{FF2B5EF4-FFF2-40B4-BE49-F238E27FC236}">
                    <a16:creationId xmlns:a16="http://schemas.microsoft.com/office/drawing/2014/main" id="{62A271C6-4244-0D53-213F-D40E9EE167EF}"/>
                  </a:ext>
                </a:extLst>
              </p:cNvPr>
              <p:cNvCxnSpPr/>
              <p:nvPr/>
            </p:nvCxnSpPr>
            <p:spPr>
              <a:xfrm>
                <a:off x="7690104" y="4626864"/>
                <a:ext cx="466344" cy="0"/>
              </a:xfrm>
              <a:prstGeom prst="line">
                <a:avLst/>
              </a:prstGeom>
              <a:ln w="27940">
                <a:solidFill>
                  <a:srgbClr val="14B0D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ight Triangle 22">
                <a:extLst>
                  <a:ext uri="{FF2B5EF4-FFF2-40B4-BE49-F238E27FC236}">
                    <a16:creationId xmlns:a16="http://schemas.microsoft.com/office/drawing/2014/main" id="{63C59706-4534-5F53-F5FD-4884D2440556}"/>
                  </a:ext>
                </a:extLst>
              </p:cNvPr>
              <p:cNvSpPr/>
              <p:nvPr/>
            </p:nvSpPr>
            <p:spPr>
              <a:xfrm rot="13335399">
                <a:off x="8065006" y="4543417"/>
                <a:ext cx="182880" cy="182880"/>
              </a:xfrm>
              <a:prstGeom prst="rtTriangle">
                <a:avLst/>
              </a:prstGeom>
              <a:solidFill>
                <a:srgbClr val="14B0D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A843557-8579-174F-41BC-4F3BE68AA112}"/>
                  </a:ext>
                </a:extLst>
              </p:cNvPr>
              <p:cNvSpPr txBox="1"/>
              <p:nvPr/>
            </p:nvSpPr>
            <p:spPr>
              <a:xfrm>
                <a:off x="8293608" y="4480560"/>
                <a:ext cx="841248" cy="29260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1080" b="1" dirty="0" err="1">
                    <a:solidFill>
                      <a:srgbClr val="0088A6"/>
                    </a:solidFill>
                    <a:latin typeface="Arial"/>
                  </a:rPr>
                  <a:t>цілісна</a:t>
                </a:r>
                <a:r>
                  <a:rPr sz="1080" b="1" dirty="0">
                    <a:solidFill>
                      <a:srgbClr val="0088A6"/>
                    </a:solidFill>
                    <a:latin typeface="Arial"/>
                  </a:rPr>
                  <a:t>
</a:t>
                </a:r>
                <a:r>
                  <a:rPr sz="1080" b="1" dirty="0" err="1">
                    <a:solidFill>
                      <a:srgbClr val="0088A6"/>
                    </a:solidFill>
                    <a:latin typeface="Arial"/>
                  </a:rPr>
                  <a:t>система</a:t>
                </a:r>
                <a:endParaRPr sz="1080" b="1" dirty="0">
                  <a:solidFill>
                    <a:srgbClr val="0088A6"/>
                  </a:solidFill>
                  <a:latin typeface="Arial"/>
                </a:endParaRPr>
              </a:p>
            </p:txBody>
          </p:sp>
          <p:sp>
            <p:nvSpPr>
              <p:cNvPr id="69" name="Rounded Rectangle 24">
                <a:extLst>
                  <a:ext uri="{FF2B5EF4-FFF2-40B4-BE49-F238E27FC236}">
                    <a16:creationId xmlns:a16="http://schemas.microsoft.com/office/drawing/2014/main" id="{62C11765-05C2-53B7-182F-0FF27B3CC775}"/>
                  </a:ext>
                </a:extLst>
              </p:cNvPr>
              <p:cNvSpPr/>
              <p:nvPr/>
            </p:nvSpPr>
            <p:spPr>
              <a:xfrm>
                <a:off x="9107423" y="4321094"/>
                <a:ext cx="1874519" cy="694944"/>
              </a:xfrm>
              <a:prstGeom prst="roundRect">
                <a:avLst/>
              </a:prstGeom>
              <a:solidFill>
                <a:srgbClr val="FFFFFF"/>
              </a:solidFill>
              <a:ln w="17780">
                <a:solidFill>
                  <a:srgbClr val="14B0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B23C499-FD3E-18F6-3635-EED9FEEE0B5D}"/>
                  </a:ext>
                </a:extLst>
              </p:cNvPr>
              <p:cNvSpPr txBox="1"/>
              <p:nvPr/>
            </p:nvSpPr>
            <p:spPr>
              <a:xfrm>
                <a:off x="9637775" y="4449110"/>
                <a:ext cx="1097280" cy="16459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180" b="1">
                    <a:solidFill>
                      <a:srgbClr val="232D3A"/>
                    </a:solidFill>
                    <a:latin typeface="Arial"/>
                  </a:rPr>
                  <a:t>Autonexis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334AC0E-4364-1F94-E4C4-55B475746B41}"/>
                  </a:ext>
                </a:extLst>
              </p:cNvPr>
              <p:cNvSpPr txBox="1"/>
              <p:nvPr/>
            </p:nvSpPr>
            <p:spPr>
              <a:xfrm>
                <a:off x="9637774" y="4631990"/>
                <a:ext cx="1380743" cy="123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sz="800" b="0" dirty="0">
                    <a:solidFill>
                      <a:srgbClr val="667181"/>
                    </a:solidFill>
                    <a:latin typeface="Arial"/>
                  </a:rPr>
                  <a:t>IoT → telemetry → alerts</a:t>
                </a:r>
                <a:r>
                  <a:rPr lang="uk-UA" sz="800" dirty="0">
                    <a:solidFill>
                      <a:srgbClr val="667181"/>
                    </a:solidFill>
                    <a:latin typeface="Arial"/>
                  </a:rPr>
                  <a:t> →</a:t>
                </a:r>
                <a:endParaRPr sz="800" b="0" dirty="0">
                  <a:solidFill>
                    <a:srgbClr val="667181"/>
                  </a:solidFill>
                  <a:latin typeface="Arial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15FAA02-4A10-4276-9E27-79E37752324F}"/>
                  </a:ext>
                </a:extLst>
              </p:cNvPr>
              <p:cNvSpPr txBox="1"/>
              <p:nvPr/>
            </p:nvSpPr>
            <p:spPr>
              <a:xfrm>
                <a:off x="9637775" y="4796582"/>
                <a:ext cx="1234440" cy="123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00" b="0" dirty="0">
                    <a:solidFill>
                      <a:srgbClr val="667181"/>
                    </a:solidFill>
                    <a:latin typeface="Arial"/>
                  </a:rPr>
                  <a:t>service → web/mobile</a:t>
                </a:r>
              </a:p>
            </p:txBody>
          </p:sp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237479AF-32C1-EBA3-F33B-A1C1A0C91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71432" y="4449110"/>
                <a:ext cx="438912" cy="438912"/>
              </a:xfrm>
              <a:prstGeom prst="rect">
                <a:avLst/>
              </a:prstGeom>
            </p:spPr>
          </p:pic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2D0847FE-8B01-9CA2-DCB2-218F27A7D24B}"/>
              </a:ext>
            </a:extLst>
          </p:cNvPr>
          <p:cNvSpPr txBox="1"/>
          <p:nvPr/>
        </p:nvSpPr>
        <p:spPr>
          <a:xfrm>
            <a:off x="3301707" y="5338090"/>
            <a:ext cx="1472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1400" dirty="0">
                <a:solidFill>
                  <a:srgbClr val="232D3A"/>
                </a:solidFill>
                <a:latin typeface="Arial"/>
              </a:rPr>
              <a:t>Готові рішення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" y="237744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50" b="1">
                <a:solidFill>
                  <a:srgbClr val="232D3A"/>
                </a:solidFill>
                <a:latin typeface="Arial"/>
              </a:rPr>
              <a:t>Мета, об’єкт, предмет і завдання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640080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80" b="0">
                <a:solidFill>
                  <a:srgbClr val="67717E"/>
                </a:solidFill>
                <a:latin typeface="Arial"/>
              </a:rPr>
              <a:t>Що саме визначено та реалізовано в межах кваліфікаційної роботи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15568"/>
            <a:ext cx="113842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307592"/>
            <a:ext cx="960120" cy="301752"/>
          </a:xfrm>
          <a:prstGeom prst="roundRect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Мета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1271016"/>
            <a:ext cx="9784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353F4D"/>
                </a:solidFill>
                <a:latin typeface="Arial"/>
              </a:rPr>
              <a:t>Розробити програмну систему Autonexis для моніторингу технічного стану автомобіля з використанням IoT, що забезпечує збір телеметрії, оцінювання стану та підтримку сервісної взаємодії.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267712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450592"/>
            <a:ext cx="1033271" cy="301752"/>
          </a:xfrm>
          <a:prstGeom prst="roundRect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Об’єкт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2395728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0">
                <a:solidFill>
                  <a:srgbClr val="353F4D"/>
                </a:solidFill>
                <a:latin typeface="Arial"/>
              </a:rPr>
              <a:t>Процес моніторингу технічного стану автомобіля на основі телеметричних даних.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267712"/>
            <a:ext cx="566928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450592"/>
            <a:ext cx="1024128" cy="301752"/>
          </a:xfrm>
          <a:prstGeom prst="roundRect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Предмет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2377440"/>
            <a:ext cx="397763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dirty="0" err="1">
                <a:solidFill>
                  <a:srgbClr val="353F4D"/>
                </a:solidFill>
                <a:latin typeface="Arial"/>
              </a:rPr>
              <a:t>Програмна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система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Autonexis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її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архітектура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структура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даних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 і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алгоритми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обробки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53F4D"/>
                </a:solidFill>
                <a:latin typeface="Arial"/>
              </a:rPr>
              <a:t>телеметрії</a:t>
            </a:r>
            <a:r>
              <a:rPr sz="1250" b="0" dirty="0">
                <a:solidFill>
                  <a:srgbClr val="353F4D"/>
                </a:solidFill>
                <a:latin typeface="Arial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83280"/>
            <a:ext cx="11384280" cy="2011680"/>
          </a:xfrm>
          <a:prstGeom prst="roundRect">
            <a:avLst/>
          </a:prstGeom>
          <a:solidFill>
            <a:srgbClr val="F6E8CA"/>
          </a:solidFill>
          <a:ln w="12700">
            <a:solidFill>
              <a:srgbClr val="D3B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66928" y="35387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80" b="1">
                <a:solidFill>
                  <a:srgbClr val="232D3A"/>
                </a:solidFill>
                <a:latin typeface="Arial"/>
              </a:rPr>
              <a:t>Ключові завдання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8130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7717E"/>
                </a:solidFill>
                <a:latin typeface="Arial"/>
              </a:rPr>
              <a:t>Основні етапи виконання кваліфікаційної роботи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6688" y="353872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19" b="0">
                <a:solidFill>
                  <a:srgbClr val="7B5B2D"/>
                </a:solidFill>
                <a:latin typeface="Arial"/>
              </a:rPr>
              <a:t>мапа реалізації</a:t>
            </a:r>
          </a:p>
        </p:txBody>
      </p:sp>
      <p:sp>
        <p:nvSpPr>
          <p:cNvPr id="24" name="Oval 23"/>
          <p:cNvSpPr/>
          <p:nvPr/>
        </p:nvSpPr>
        <p:spPr>
          <a:xfrm>
            <a:off x="847648" y="448696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2151" y="446736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56654" y="444777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1157" y="4428177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65660" y="440858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70163" y="4388989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474665" y="436939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57916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57916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685848" y="43787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792528" y="440771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899208" y="443666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005888" y="446562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112568" y="449458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19248" y="45235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219248" y="45235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323751" y="4490879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428254" y="445822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532757" y="442556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637260" y="439290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741763" y="436025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846265" y="432759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950768" y="42949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950768" y="42949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052368" y="432541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153968" y="435589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255568" y="438637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357168" y="44168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458768" y="44473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560368" y="447781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661968" y="450829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763568" y="453877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865168" y="45692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865168" y="45692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964228" y="455096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063288" y="453268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162348" y="451439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261408" y="449610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360468" y="447781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459528" y="445952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4558588" y="444124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657648" y="442295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756708" y="440466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855768" y="438637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954828" y="436808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05388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05388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152948" y="437037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5252008" y="439094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351068" y="441152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5450128" y="443209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549188" y="445267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648248" y="447324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5747308" y="449381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5846368" y="451439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5945428" y="453496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044488" y="455554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143548" y="457611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242608" y="459668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242608" y="459668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342361" y="457424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442114" y="4551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541866" y="452935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641619" y="450691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6741372" y="448446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6841125" y="446202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6940877" y="443957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7040630" y="441713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140383" y="4394689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240136" y="437224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733988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733988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7435485" y="436975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531081" y="438970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7626677" y="440965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722274" y="442960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817870" y="444955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913466" y="446950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009063" y="448945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8104659" y="450940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8200256" y="452935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8295852" y="454930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8391448" y="45692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8391448" y="45692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8487045" y="454930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582641" y="452935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678237" y="450940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8773834" y="448945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8869430" y="446950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8965026" y="444955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060623" y="442960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9156219" y="440965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9251816" y="438970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9347412" y="436975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944300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944300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9539528" y="437215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9636048" y="439450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9732568" y="44168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9829088" y="443920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9925608" y="446156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022128" y="448391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118648" y="450626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0215168" y="452861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311688" y="455096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5" name="Групувати 154">
            <a:extLst>
              <a:ext uri="{FF2B5EF4-FFF2-40B4-BE49-F238E27FC236}">
                <a16:creationId xmlns:a16="http://schemas.microsoft.com/office/drawing/2014/main" id="{08DE22C8-0E5A-5724-77D7-B68EA7B02847}"/>
              </a:ext>
            </a:extLst>
          </p:cNvPr>
          <p:cNvGrpSpPr/>
          <p:nvPr/>
        </p:nvGrpSpPr>
        <p:grpSpPr>
          <a:xfrm>
            <a:off x="432489" y="4261352"/>
            <a:ext cx="210312" cy="530352"/>
            <a:chOff x="557784" y="4407408"/>
            <a:chExt cx="210312" cy="530352"/>
          </a:xfrm>
        </p:grpSpPr>
        <p:sp>
          <p:nvSpPr>
            <p:cNvPr id="129" name="Rectangle 128"/>
            <p:cNvSpPr/>
            <p:nvPr/>
          </p:nvSpPr>
          <p:spPr>
            <a:xfrm>
              <a:off x="557784" y="4407408"/>
              <a:ext cx="25400" cy="530352"/>
            </a:xfrm>
            <a:prstGeom prst="rect">
              <a:avLst/>
            </a:prstGeom>
            <a:solidFill>
              <a:srgbClr val="7B5B2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Right Triangle 129"/>
            <p:cNvSpPr/>
            <p:nvPr/>
          </p:nvSpPr>
          <p:spPr>
            <a:xfrm>
              <a:off x="566928" y="4425696"/>
              <a:ext cx="201168" cy="155448"/>
            </a:xfrm>
            <a:prstGeom prst="rtTriangle">
              <a:avLst/>
            </a:prstGeom>
            <a:solidFill>
              <a:srgbClr val="14B0D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131" name="Oval 130"/>
          <p:cNvSpPr/>
          <p:nvPr/>
        </p:nvSpPr>
        <p:spPr>
          <a:xfrm>
            <a:off x="658368" y="4297679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25551" y="4782312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Аналіз</a:t>
            </a:r>
            <a:endParaRPr sz="1200" b="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предметної</a:t>
            </a:r>
            <a:r>
              <a:rPr sz="1200" b="0" dirty="0">
                <a:solidFill>
                  <a:srgbClr val="353F4D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353F4D"/>
                </a:solidFill>
                <a:latin typeface="Arial"/>
              </a:rPr>
              <a:t>області</a:t>
            </a:r>
            <a:endParaRPr sz="1200" b="0" dirty="0">
              <a:solidFill>
                <a:srgbClr val="353F4D"/>
              </a:solidFill>
              <a:latin typeface="Arial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2761488" y="4105655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19248" y="4642604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Формування</a:t>
            </a:r>
            <a:endParaRPr sz="1200" b="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вимог</a:t>
            </a:r>
            <a:endParaRPr sz="1200" b="0" dirty="0">
              <a:solidFill>
                <a:srgbClr val="353F4D"/>
              </a:solidFill>
              <a:latin typeface="Arial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4864607" y="4160520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82439" y="4636008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Проєктування</a:t>
            </a:r>
            <a:endParaRPr sz="1200" b="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архітектури</a:t>
            </a:r>
            <a:r>
              <a:rPr sz="1200" b="0" dirty="0">
                <a:solidFill>
                  <a:srgbClr val="353F4D"/>
                </a:solidFill>
                <a:latin typeface="Arial"/>
              </a:rPr>
              <a:t> і БД</a:t>
            </a:r>
          </a:p>
        </p:txBody>
      </p:sp>
      <p:sp>
        <p:nvSpPr>
          <p:cNvPr id="137" name="Oval 136"/>
          <p:cNvSpPr/>
          <p:nvPr/>
        </p:nvSpPr>
        <p:spPr>
          <a:xfrm>
            <a:off x="7150608" y="4160520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78358" y="4642604"/>
            <a:ext cx="15087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dirty="0" err="1">
                <a:solidFill>
                  <a:srgbClr val="353F4D"/>
                </a:solidFill>
                <a:latin typeface="Arial"/>
              </a:rPr>
              <a:t>Реалізація</a:t>
            </a:r>
            <a:endParaRPr sz="120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dirty="0">
                <a:solidFill>
                  <a:srgbClr val="353F4D"/>
                </a:solidFill>
                <a:latin typeface="Arial"/>
              </a:rPr>
              <a:t>backend, web,</a:t>
            </a:r>
          </a:p>
          <a:p>
            <a:pPr algn="ctr"/>
            <a:r>
              <a:rPr sz="1200" dirty="0">
                <a:solidFill>
                  <a:srgbClr val="353F4D"/>
                </a:solidFill>
                <a:latin typeface="Arial"/>
              </a:rPr>
              <a:t>Android </a:t>
            </a:r>
            <a:r>
              <a:rPr sz="1200" dirty="0" err="1">
                <a:solidFill>
                  <a:srgbClr val="353F4D"/>
                </a:solidFill>
                <a:latin typeface="Arial"/>
              </a:rPr>
              <a:t>та</a:t>
            </a:r>
            <a:r>
              <a:rPr sz="1200" dirty="0">
                <a:solidFill>
                  <a:srgbClr val="353F4D"/>
                </a:solidFill>
                <a:latin typeface="Arial"/>
              </a:rPr>
              <a:t> IoT</a:t>
            </a:r>
          </a:p>
        </p:txBody>
      </p:sp>
      <p:sp>
        <p:nvSpPr>
          <p:cNvPr id="139" name="Oval 138"/>
          <p:cNvSpPr/>
          <p:nvPr/>
        </p:nvSpPr>
        <p:spPr>
          <a:xfrm>
            <a:off x="9253728" y="4160520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93032" y="4618176"/>
            <a:ext cx="15087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Тестування</a:t>
            </a:r>
            <a:r>
              <a:rPr sz="1200" b="0" dirty="0">
                <a:solidFill>
                  <a:srgbClr val="353F4D"/>
                </a:solidFill>
                <a:latin typeface="Arial"/>
              </a:rPr>
              <a:t> й</a:t>
            </a: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експериментальна</a:t>
            </a:r>
            <a:endParaRPr sz="1200" b="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перевірка</a:t>
            </a:r>
            <a:endParaRPr sz="1200" b="0" dirty="0">
              <a:solidFill>
                <a:srgbClr val="353F4D"/>
              </a:solidFill>
              <a:latin typeface="Arial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0022128" y="4855464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готова</a:t>
            </a:r>
            <a:r>
              <a: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 </a:t>
            </a:r>
            <a:r>
              <a:rPr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система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  <a:p>
            <a:pPr algn="ctr"/>
            <a:r>
              <a:rPr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Autonexis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1874519" y="5193792"/>
            <a:ext cx="146304" cy="45720"/>
          </a:xfrm>
          <a:prstGeom prst="ellipse">
            <a:avLst/>
          </a:prstGeom>
          <a:solidFill>
            <a:srgbClr val="E5D1AE"/>
          </a:solidFill>
          <a:ln w="3810">
            <a:solidFill>
              <a:srgbClr val="D3B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446520" y="5148072"/>
            <a:ext cx="164592" cy="45720"/>
          </a:xfrm>
          <a:prstGeom prst="ellipse">
            <a:avLst/>
          </a:prstGeom>
          <a:solidFill>
            <a:srgbClr val="E5D1AE"/>
          </a:solidFill>
          <a:ln w="3810">
            <a:solidFill>
              <a:srgbClr val="D3B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1" name="Групувати 150">
            <a:extLst>
              <a:ext uri="{FF2B5EF4-FFF2-40B4-BE49-F238E27FC236}">
                <a16:creationId xmlns:a16="http://schemas.microsoft.com/office/drawing/2014/main" id="{7FD57D01-00A3-D652-81BF-6C39C7A62749}"/>
              </a:ext>
            </a:extLst>
          </p:cNvPr>
          <p:cNvGrpSpPr/>
          <p:nvPr/>
        </p:nvGrpSpPr>
        <p:grpSpPr>
          <a:xfrm>
            <a:off x="10735056" y="3758184"/>
            <a:ext cx="310896" cy="310896"/>
            <a:chOff x="10927080" y="4078224"/>
            <a:chExt cx="310896" cy="310896"/>
          </a:xfrm>
        </p:grpSpPr>
        <p:sp>
          <p:nvSpPr>
            <p:cNvPr id="145" name="Oval 20">
              <a:extLst>
                <a:ext uri="{FF2B5EF4-FFF2-40B4-BE49-F238E27FC236}">
                  <a16:creationId xmlns:a16="http://schemas.microsoft.com/office/drawing/2014/main" id="{B3B8D0AE-83A5-406A-F08E-DBA8E518B29E}"/>
                </a:ext>
              </a:extLst>
            </p:cNvPr>
            <p:cNvSpPr/>
            <p:nvPr/>
          </p:nvSpPr>
          <p:spPr>
            <a:xfrm>
              <a:off x="10927080" y="4078224"/>
              <a:ext cx="310896" cy="310896"/>
            </a:xfrm>
            <a:prstGeom prst="ellipse">
              <a:avLst/>
            </a:prstGeom>
            <a:noFill/>
            <a:ln w="15240">
              <a:solidFill>
                <a:srgbClr val="805F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Oval 21">
              <a:extLst>
                <a:ext uri="{FF2B5EF4-FFF2-40B4-BE49-F238E27FC236}">
                  <a16:creationId xmlns:a16="http://schemas.microsoft.com/office/drawing/2014/main" id="{A8BEA000-CE8C-0524-4F2C-BAF9A629AEF1}"/>
                </a:ext>
              </a:extLst>
            </p:cNvPr>
            <p:cNvSpPr/>
            <p:nvPr/>
          </p:nvSpPr>
          <p:spPr>
            <a:xfrm>
              <a:off x="11036808" y="4187952"/>
              <a:ext cx="91440" cy="91440"/>
            </a:xfrm>
            <a:prstGeom prst="ellipse">
              <a:avLst/>
            </a:prstGeom>
            <a:solidFill>
              <a:srgbClr val="805F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7" name="Connector 22">
              <a:extLst>
                <a:ext uri="{FF2B5EF4-FFF2-40B4-BE49-F238E27FC236}">
                  <a16:creationId xmlns:a16="http://schemas.microsoft.com/office/drawing/2014/main" id="{B53F8CD8-30C5-EB10-118A-DF096153DFB4}"/>
                </a:ext>
              </a:extLst>
            </p:cNvPr>
            <p:cNvCxnSpPr/>
            <p:nvPr/>
          </p:nvCxnSpPr>
          <p:spPr>
            <a:xfrm>
              <a:off x="11082528" y="4087368"/>
              <a:ext cx="0" cy="292608"/>
            </a:xfrm>
            <a:prstGeom prst="line">
              <a:avLst/>
            </a:prstGeom>
            <a:ln w="12700">
              <a:solidFill>
                <a:srgbClr val="805F2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23">
              <a:extLst>
                <a:ext uri="{FF2B5EF4-FFF2-40B4-BE49-F238E27FC236}">
                  <a16:creationId xmlns:a16="http://schemas.microsoft.com/office/drawing/2014/main" id="{EA404CB4-8132-942D-18A5-595E4B261565}"/>
                </a:ext>
              </a:extLst>
            </p:cNvPr>
            <p:cNvCxnSpPr/>
            <p:nvPr/>
          </p:nvCxnSpPr>
          <p:spPr>
            <a:xfrm>
              <a:off x="10936224" y="4233672"/>
              <a:ext cx="292608" cy="0"/>
            </a:xfrm>
            <a:prstGeom prst="line">
              <a:avLst/>
            </a:prstGeom>
            <a:ln w="12700">
              <a:solidFill>
                <a:srgbClr val="805F2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24">
              <a:extLst>
                <a:ext uri="{FF2B5EF4-FFF2-40B4-BE49-F238E27FC236}">
                  <a16:creationId xmlns:a16="http://schemas.microsoft.com/office/drawing/2014/main" id="{2BF040DC-69B6-713F-3915-9E25D50C67E2}"/>
                </a:ext>
              </a:extLst>
            </p:cNvPr>
            <p:cNvCxnSpPr/>
            <p:nvPr/>
          </p:nvCxnSpPr>
          <p:spPr>
            <a:xfrm>
              <a:off x="10972800" y="4123944"/>
              <a:ext cx="219456" cy="219456"/>
            </a:xfrm>
            <a:prstGeom prst="line">
              <a:avLst/>
            </a:prstGeom>
            <a:ln w="12700">
              <a:solidFill>
                <a:srgbClr val="805F2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25">
              <a:extLst>
                <a:ext uri="{FF2B5EF4-FFF2-40B4-BE49-F238E27FC236}">
                  <a16:creationId xmlns:a16="http://schemas.microsoft.com/office/drawing/2014/main" id="{D601C982-0CBF-143F-1E12-9FB4C70E5B79}"/>
                </a:ext>
              </a:extLst>
            </p:cNvPr>
            <p:cNvCxnSpPr/>
            <p:nvPr/>
          </p:nvCxnSpPr>
          <p:spPr>
            <a:xfrm flipH="1">
              <a:off x="10972800" y="4123944"/>
              <a:ext cx="219456" cy="219456"/>
            </a:xfrm>
            <a:prstGeom prst="line">
              <a:avLst/>
            </a:prstGeom>
            <a:ln w="12700">
              <a:solidFill>
                <a:srgbClr val="805F2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Oval 4">
            <a:extLst>
              <a:ext uri="{FF2B5EF4-FFF2-40B4-BE49-F238E27FC236}">
                <a16:creationId xmlns:a16="http://schemas.microsoft.com/office/drawing/2014/main" id="{B91EFA5F-0053-EFD1-ECFB-90BA8926B6C0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0E3554"/>
                </a:solidFill>
                <a:latin typeface="Arial"/>
              </a:rPr>
              <a:t>3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pic>
        <p:nvPicPr>
          <p:cNvPr id="163" name="Picture 3" descr="se_logo_cropped.png">
            <a:extLst>
              <a:ext uri="{FF2B5EF4-FFF2-40B4-BE49-F238E27FC236}">
                <a16:creationId xmlns:a16="http://schemas.microsoft.com/office/drawing/2014/main" id="{15811230-BF37-2390-DD59-ACAA83FE1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pic>
        <p:nvPicPr>
          <p:cNvPr id="165" name="Графіка 164">
            <a:extLst>
              <a:ext uri="{FF2B5EF4-FFF2-40B4-BE49-F238E27FC236}">
                <a16:creationId xmlns:a16="http://schemas.microsoft.com/office/drawing/2014/main" id="{9B53BD3F-49AA-9E0A-B452-59E1E40A7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1712" y="4235881"/>
            <a:ext cx="708812" cy="708812"/>
          </a:xfrm>
          <a:prstGeom prst="rect">
            <a:avLst/>
          </a:prstGeom>
        </p:spPr>
      </p:pic>
      <p:sp>
        <p:nvSpPr>
          <p:cNvPr id="166" name="Rectangle 5">
            <a:extLst>
              <a:ext uri="{FF2B5EF4-FFF2-40B4-BE49-F238E27FC236}">
                <a16:creationId xmlns:a16="http://schemas.microsoft.com/office/drawing/2014/main" id="{17DA432E-916C-A757-54AE-E5B6FC37A210}"/>
              </a:ext>
            </a:extLst>
          </p:cNvPr>
          <p:cNvSpPr/>
          <p:nvPr/>
        </p:nvSpPr>
        <p:spPr>
          <a:xfrm>
            <a:off x="228599" y="887426"/>
            <a:ext cx="960120" cy="32004"/>
          </a:xfrm>
          <a:prstGeom prst="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3040"/>
          </a:solidFill>
          <a:ln w="12700">
            <a:solidFill>
              <a:srgbClr val="2330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47472" y="2926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Ідея системи Autonexis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7955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Повний шлях від IoT-даних до дії користувача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1188720" cy="41148"/>
          </a:xfrm>
          <a:prstGeom prst="rect">
            <a:avLst/>
          </a:prstGeom>
          <a:solidFill>
            <a:srgbClr val="F57829"/>
          </a:solidFill>
          <a:ln w="12700">
            <a:solidFill>
              <a:srgbClr val="F578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Autonexis перетворює телеметрію автомобіля на зрозумілий стан, попередження та сервісну дію.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600200" cy="19385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DBE3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Shape 6"/>
          <p:cNvSpPr/>
          <p:nvPr/>
        </p:nvSpPr>
        <p:spPr>
          <a:xfrm>
            <a:off x="740664" y="2386584"/>
            <a:ext cx="548640" cy="548640"/>
          </a:xfrm>
          <a:prstGeom prst="roundRect">
            <a:avLst>
              <a:gd name="adj" fmla="val 6667"/>
            </a:avLst>
          </a:prstGeom>
          <a:solidFill>
            <a:srgbClr val="12AFCF"/>
          </a:solidFill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685800" y="2496312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1289304" y="2496312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685800" y="2596896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1289304" y="2596896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685800" y="2697480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Shape 12"/>
          <p:cNvSpPr/>
          <p:nvPr/>
        </p:nvSpPr>
        <p:spPr>
          <a:xfrm>
            <a:off x="1289304" y="2697480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685800" y="2798064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Shape 14"/>
          <p:cNvSpPr/>
          <p:nvPr/>
        </p:nvSpPr>
        <p:spPr>
          <a:xfrm>
            <a:off x="1289304" y="2798064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704088" y="3099816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ESP32 /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Wokwi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" y="3611880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80" dirty="0" err="1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формування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280" dirty="0" err="1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телеметрії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34640" y="2148840"/>
            <a:ext cx="1600200" cy="19385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DBE3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182112" y="2505456"/>
            <a:ext cx="2633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035808" y="3099816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MQTT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Broker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035808" y="3611880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передавання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повідомлень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20640" y="2093976"/>
            <a:ext cx="1828800" cy="20482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1590">
            <a:solidFill>
              <a:srgbClr val="12AFCF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8" name="Shape 26"/>
          <p:cNvSpPr/>
          <p:nvPr/>
        </p:nvSpPr>
        <p:spPr>
          <a:xfrm>
            <a:off x="5413248" y="2363724"/>
            <a:ext cx="45720" cy="45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Shape 28"/>
          <p:cNvSpPr/>
          <p:nvPr/>
        </p:nvSpPr>
        <p:spPr>
          <a:xfrm>
            <a:off x="5413248" y="2505456"/>
            <a:ext cx="45720" cy="45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grpSp>
        <p:nvGrpSpPr>
          <p:cNvPr id="82" name="Групувати 81">
            <a:extLst>
              <a:ext uri="{FF2B5EF4-FFF2-40B4-BE49-F238E27FC236}">
                <a16:creationId xmlns:a16="http://schemas.microsoft.com/office/drawing/2014/main" id="{37984B2A-F0CF-8077-F83E-E617BADF692A}"/>
              </a:ext>
            </a:extLst>
          </p:cNvPr>
          <p:cNvGrpSpPr/>
          <p:nvPr/>
        </p:nvGrpSpPr>
        <p:grpSpPr>
          <a:xfrm>
            <a:off x="5358384" y="2441448"/>
            <a:ext cx="411480" cy="393192"/>
            <a:chOff x="5358384" y="2331720"/>
            <a:chExt cx="411480" cy="393192"/>
          </a:xfrm>
        </p:grpSpPr>
        <p:grpSp>
          <p:nvGrpSpPr>
            <p:cNvPr id="81" name="Групувати 80">
              <a:extLst>
                <a:ext uri="{FF2B5EF4-FFF2-40B4-BE49-F238E27FC236}">
                  <a16:creationId xmlns:a16="http://schemas.microsoft.com/office/drawing/2014/main" id="{282FFCB5-A7E7-43B6-8208-2EF42C7AA164}"/>
                </a:ext>
              </a:extLst>
            </p:cNvPr>
            <p:cNvGrpSpPr/>
            <p:nvPr/>
          </p:nvGrpSpPr>
          <p:grpSpPr>
            <a:xfrm>
              <a:off x="5358384" y="2331720"/>
              <a:ext cx="411480" cy="393192"/>
              <a:chOff x="5358384" y="2331720"/>
              <a:chExt cx="411480" cy="393192"/>
            </a:xfrm>
          </p:grpSpPr>
          <p:sp>
            <p:nvSpPr>
              <p:cNvPr id="27" name="Shape 25"/>
              <p:cNvSpPr/>
              <p:nvPr/>
            </p:nvSpPr>
            <p:spPr>
              <a:xfrm>
                <a:off x="5358384" y="2331720"/>
                <a:ext cx="411480" cy="109728"/>
              </a:xfrm>
              <a:prstGeom prst="roundRect">
                <a:avLst>
                  <a:gd name="adj" fmla="val 25000"/>
                </a:avLst>
              </a:prstGeom>
              <a:solidFill>
                <a:srgbClr val="0B2D4B"/>
              </a:solidFill>
              <a:ln w="12700">
                <a:solidFill>
                  <a:srgbClr val="0B2D4B"/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5358384" y="2473452"/>
                <a:ext cx="411480" cy="109728"/>
              </a:xfrm>
              <a:prstGeom prst="roundRect">
                <a:avLst>
                  <a:gd name="adj" fmla="val 25000"/>
                </a:avLst>
              </a:prstGeom>
              <a:solidFill>
                <a:srgbClr val="0B2D4B"/>
              </a:solidFill>
              <a:ln w="12700">
                <a:solidFill>
                  <a:srgbClr val="0B2D4B"/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1" name="Shape 29"/>
              <p:cNvSpPr/>
              <p:nvPr/>
            </p:nvSpPr>
            <p:spPr>
              <a:xfrm>
                <a:off x="5358384" y="2615184"/>
                <a:ext cx="411480" cy="109728"/>
              </a:xfrm>
              <a:prstGeom prst="roundRect">
                <a:avLst>
                  <a:gd name="adj" fmla="val 25000"/>
                </a:avLst>
              </a:prstGeom>
              <a:solidFill>
                <a:srgbClr val="0B2D4B"/>
              </a:solidFill>
              <a:ln w="12700">
                <a:solidFill>
                  <a:srgbClr val="0B2D4B"/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32" name="Shape 30"/>
            <p:cNvSpPr/>
            <p:nvPr/>
          </p:nvSpPr>
          <p:spPr>
            <a:xfrm>
              <a:off x="5413248" y="2647188"/>
              <a:ext cx="45720" cy="457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35" name="Text 33"/>
          <p:cNvSpPr/>
          <p:nvPr/>
        </p:nvSpPr>
        <p:spPr>
          <a:xfrm>
            <a:off x="5321808" y="304495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Go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Backend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21808" y="3557016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перевірка та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оцінювання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79792" y="2148840"/>
            <a:ext cx="1600200" cy="19385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DBE3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8" name="Shape 36"/>
          <p:cNvSpPr/>
          <p:nvPr/>
        </p:nvSpPr>
        <p:spPr>
          <a:xfrm>
            <a:off x="7717536" y="2386584"/>
            <a:ext cx="427939" cy="395021"/>
          </a:xfrm>
          <a:prstGeom prst="can">
            <a:avLst/>
          </a:prstGeom>
          <a:solidFill>
            <a:srgbClr val="12AFCF"/>
          </a:solidFill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0" name="Shape 38"/>
          <p:cNvSpPr/>
          <p:nvPr/>
        </p:nvSpPr>
        <p:spPr>
          <a:xfrm>
            <a:off x="7754112" y="2752344"/>
            <a:ext cx="384048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1" name="Text 39"/>
          <p:cNvSpPr/>
          <p:nvPr/>
        </p:nvSpPr>
        <p:spPr>
          <a:xfrm>
            <a:off x="7680960" y="3099816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PostgreSQL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80960" y="3611880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збереження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історії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948672" y="2148840"/>
            <a:ext cx="1600200" cy="19385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DBE3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4" name="Shape 42"/>
          <p:cNvSpPr/>
          <p:nvPr/>
        </p:nvSpPr>
        <p:spPr>
          <a:xfrm>
            <a:off x="10186416" y="2459736"/>
            <a:ext cx="384048" cy="252374"/>
          </a:xfrm>
          <a:prstGeom prst="roundRect">
            <a:avLst>
              <a:gd name="adj" fmla="val 7246"/>
            </a:avLst>
          </a:prstGeom>
          <a:solidFill>
            <a:srgbClr val="FFFFFF">
              <a:alpha val="0"/>
            </a:srgbClr>
          </a:solidFill>
          <a:ln w="27940">
            <a:solidFill>
              <a:srgbClr val="12AFC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5" name="Shape 43"/>
          <p:cNvSpPr/>
          <p:nvPr/>
        </p:nvSpPr>
        <p:spPr>
          <a:xfrm>
            <a:off x="10378440" y="2688336"/>
            <a:ext cx="0" cy="65837"/>
          </a:xfrm>
          <a:prstGeom prst="line">
            <a:avLst/>
          </a:prstGeom>
          <a:noFill/>
          <a:ln w="25400">
            <a:solidFill>
              <a:srgbClr val="12AFC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6" name="Shape 44"/>
          <p:cNvSpPr/>
          <p:nvPr/>
        </p:nvSpPr>
        <p:spPr>
          <a:xfrm>
            <a:off x="10307117" y="2754173"/>
            <a:ext cx="153619" cy="0"/>
          </a:xfrm>
          <a:prstGeom prst="line">
            <a:avLst/>
          </a:prstGeom>
          <a:noFill/>
          <a:ln w="25400">
            <a:solidFill>
              <a:srgbClr val="12AFC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7" name="Shape 45"/>
          <p:cNvSpPr/>
          <p:nvPr/>
        </p:nvSpPr>
        <p:spPr>
          <a:xfrm>
            <a:off x="10504627" y="2496312"/>
            <a:ext cx="120701" cy="230429"/>
          </a:xfrm>
          <a:prstGeom prst="roundRect">
            <a:avLst>
              <a:gd name="adj" fmla="val 22727"/>
            </a:avLst>
          </a:prstGeom>
          <a:solidFill>
            <a:srgbClr val="FFFFFF">
              <a:alpha val="0"/>
            </a:srgbClr>
          </a:solidFill>
          <a:ln w="25400">
            <a:solidFill>
              <a:srgbClr val="12AFC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8" name="Shape 46"/>
          <p:cNvSpPr/>
          <p:nvPr/>
        </p:nvSpPr>
        <p:spPr>
          <a:xfrm>
            <a:off x="10554005" y="2693822"/>
            <a:ext cx="32004" cy="32004"/>
          </a:xfrm>
          <a:prstGeom prst="ellipse">
            <a:avLst/>
          </a:prstGeom>
          <a:solidFill>
            <a:srgbClr val="12AFCF"/>
          </a:solidFill>
          <a:ln w="12700">
            <a:solidFill>
              <a:srgbClr val="12AF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9" name="Text 47"/>
          <p:cNvSpPr/>
          <p:nvPr/>
        </p:nvSpPr>
        <p:spPr>
          <a:xfrm>
            <a:off x="10149840" y="3099816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Web /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Android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149840" y="3611880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стан і дії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користувача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267712" y="3108960"/>
            <a:ext cx="402336" cy="0"/>
          </a:xfrm>
          <a:prstGeom prst="line">
            <a:avLst/>
          </a:prstGeom>
          <a:noFill/>
          <a:ln w="31750">
            <a:solidFill>
              <a:srgbClr val="AEB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3" name="Shape 51"/>
          <p:cNvSpPr/>
          <p:nvPr/>
        </p:nvSpPr>
        <p:spPr>
          <a:xfrm>
            <a:off x="4617720" y="3108960"/>
            <a:ext cx="320040" cy="0"/>
          </a:xfrm>
          <a:prstGeom prst="line">
            <a:avLst/>
          </a:prstGeom>
          <a:noFill/>
          <a:ln w="31750">
            <a:solidFill>
              <a:srgbClr val="AEB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4" name="Shape 52"/>
          <p:cNvSpPr/>
          <p:nvPr/>
        </p:nvSpPr>
        <p:spPr>
          <a:xfrm>
            <a:off x="7132320" y="3108960"/>
            <a:ext cx="274320" cy="0"/>
          </a:xfrm>
          <a:prstGeom prst="line">
            <a:avLst/>
          </a:prstGeom>
          <a:noFill/>
          <a:ln w="31750">
            <a:solidFill>
              <a:srgbClr val="AEB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5" name="Shape 53"/>
          <p:cNvSpPr/>
          <p:nvPr/>
        </p:nvSpPr>
        <p:spPr>
          <a:xfrm>
            <a:off x="9244584" y="3108960"/>
            <a:ext cx="539496" cy="0"/>
          </a:xfrm>
          <a:prstGeom prst="line">
            <a:avLst/>
          </a:prstGeom>
          <a:noFill/>
          <a:ln w="31750">
            <a:solidFill>
              <a:srgbClr val="AEB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63" name="Shape 61"/>
          <p:cNvSpPr/>
          <p:nvPr/>
        </p:nvSpPr>
        <p:spPr>
          <a:xfrm>
            <a:off x="1264981" y="5808269"/>
            <a:ext cx="46086" cy="46086"/>
          </a:xfrm>
          <a:prstGeom prst="ellipse">
            <a:avLst/>
          </a:prstGeom>
          <a:solidFill>
            <a:srgbClr val="12AFCF"/>
          </a:solidFill>
          <a:ln w="12700">
            <a:solidFill>
              <a:srgbClr val="12AF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4" name="Shape 62"/>
          <p:cNvSpPr/>
          <p:nvPr/>
        </p:nvSpPr>
        <p:spPr>
          <a:xfrm>
            <a:off x="1395557" y="5808269"/>
            <a:ext cx="46086" cy="46086"/>
          </a:xfrm>
          <a:prstGeom prst="ellipse">
            <a:avLst/>
          </a:prstGeom>
          <a:solidFill>
            <a:srgbClr val="12AFCF"/>
          </a:solidFill>
          <a:ln w="12700">
            <a:solidFill>
              <a:srgbClr val="12AF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4" name="Text 72"/>
          <p:cNvSpPr/>
          <p:nvPr/>
        </p:nvSpPr>
        <p:spPr>
          <a:xfrm>
            <a:off x="8439546" y="5712257"/>
            <a:ext cx="92172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grpSp>
        <p:nvGrpSpPr>
          <p:cNvPr id="92" name="Групувати 91">
            <a:extLst>
              <a:ext uri="{FF2B5EF4-FFF2-40B4-BE49-F238E27FC236}">
                <a16:creationId xmlns:a16="http://schemas.microsoft.com/office/drawing/2014/main" id="{1A4A8FEA-5AC0-4AE3-D14E-5E5A5ABCAF74}"/>
              </a:ext>
            </a:extLst>
          </p:cNvPr>
          <p:cNvGrpSpPr/>
          <p:nvPr/>
        </p:nvGrpSpPr>
        <p:grpSpPr>
          <a:xfrm>
            <a:off x="658368" y="4460443"/>
            <a:ext cx="10863072" cy="1417320"/>
            <a:chOff x="658368" y="4800600"/>
            <a:chExt cx="10863072" cy="1417320"/>
          </a:xfrm>
        </p:grpSpPr>
        <p:sp>
          <p:nvSpPr>
            <p:cNvPr id="57" name="Shape 55"/>
            <p:cNvSpPr/>
            <p:nvPr/>
          </p:nvSpPr>
          <p:spPr>
            <a:xfrm>
              <a:off x="658368" y="4800600"/>
              <a:ext cx="1086307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4DBE3"/>
              </a:solidFill>
              <a:prstDash val="solid"/>
            </a:ln>
            <a:effectLst>
              <a:outerShdw blurRad="25400" dist="50800" dir="2700000" algn="bl" rotWithShape="0">
                <a:srgbClr val="8A96A3">
                  <a:alpha val="18000"/>
                </a:srgbClr>
              </a:outerShdw>
            </a:effectLst>
          </p:spPr>
          <p:txBody>
            <a:bodyPr/>
            <a:lstStyle/>
            <a:p>
              <a:endParaRPr lang="uk-UA"/>
            </a:p>
          </p:txBody>
        </p:sp>
        <p:sp>
          <p:nvSpPr>
            <p:cNvPr id="58" name="Text 56"/>
            <p:cNvSpPr/>
            <p:nvPr/>
          </p:nvSpPr>
          <p:spPr>
            <a:xfrm>
              <a:off x="960120" y="4974336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23304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Результат для користувача</a:t>
              </a:r>
              <a:endParaRPr lang="en-US" sz="2000" dirty="0"/>
            </a:p>
          </p:txBody>
        </p:sp>
        <p:grpSp>
          <p:nvGrpSpPr>
            <p:cNvPr id="90" name="Групувати 89">
              <a:extLst>
                <a:ext uri="{FF2B5EF4-FFF2-40B4-BE49-F238E27FC236}">
                  <a16:creationId xmlns:a16="http://schemas.microsoft.com/office/drawing/2014/main" id="{155FB0CB-358A-BA74-573E-3132C731C1A4}"/>
                </a:ext>
              </a:extLst>
            </p:cNvPr>
            <p:cNvGrpSpPr/>
            <p:nvPr/>
          </p:nvGrpSpPr>
          <p:grpSpPr>
            <a:xfrm>
              <a:off x="4498848" y="5486400"/>
              <a:ext cx="3291840" cy="566928"/>
              <a:chOff x="4498848" y="5486400"/>
              <a:chExt cx="3291840" cy="566928"/>
            </a:xfrm>
          </p:grpSpPr>
          <p:sp>
            <p:nvSpPr>
              <p:cNvPr id="66" name="Shape 64"/>
              <p:cNvSpPr/>
              <p:nvPr/>
            </p:nvSpPr>
            <p:spPr>
              <a:xfrm>
                <a:off x="4498848" y="5486400"/>
                <a:ext cx="3291840" cy="566928"/>
              </a:xfrm>
              <a:prstGeom prst="roundRect">
                <a:avLst>
                  <a:gd name="adj" fmla="val 14516"/>
                </a:avLst>
              </a:prstGeom>
              <a:solidFill>
                <a:srgbClr val="FFF1E8"/>
              </a:solidFill>
              <a:ln w="12700">
                <a:solidFill>
                  <a:srgbClr val="F57829">
                    <a:alpha val="60000"/>
                  </a:srgbClr>
                </a:solidFill>
                <a:prstDash val="solid"/>
              </a:ln>
              <a:effectLst>
                <a:outerShdw blurRad="12700" dist="50800" dir="2700000" algn="bl" rotWithShape="0">
                  <a:srgbClr val="8A96A3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67" name="Shape 65"/>
              <p:cNvSpPr/>
              <p:nvPr/>
            </p:nvSpPr>
            <p:spPr>
              <a:xfrm>
                <a:off x="4663440" y="5577840"/>
                <a:ext cx="384048" cy="384048"/>
              </a:xfrm>
              <a:prstGeom prst="ellipse">
                <a:avLst/>
              </a:prstGeom>
              <a:solidFill>
                <a:srgbClr val="F57829"/>
              </a:solidFill>
              <a:ln w="12700">
                <a:solidFill>
                  <a:srgbClr val="F57829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68" name="Text 66"/>
              <p:cNvSpPr/>
              <p:nvPr/>
            </p:nvSpPr>
            <p:spPr>
              <a:xfrm>
                <a:off x="4810841" y="5662331"/>
                <a:ext cx="107533" cy="2745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85000" lnSpcReduction="20000"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!</a:t>
                </a:r>
                <a:endParaRPr lang="en-US" sz="2400" dirty="0"/>
              </a:p>
            </p:txBody>
          </p:sp>
          <p:sp>
            <p:nvSpPr>
              <p:cNvPr id="69" name="Text 67"/>
              <p:cNvSpPr/>
              <p:nvPr/>
            </p:nvSpPr>
            <p:spPr>
              <a:xfrm>
                <a:off x="5212080" y="5632704"/>
                <a:ext cx="245059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85000" lnSpcReduction="10000"/>
              </a:bodyPr>
              <a:lstStyle/>
              <a:p>
                <a:pPr marL="0" indent="0" algn="l">
                  <a:buNone/>
                </a:pPr>
                <a:r>
                  <a:rPr lang="en-US" sz="1550" b="1" dirty="0">
                    <a:solidFill>
                      <a:srgbClr val="233040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попередження та сповіщення</a:t>
                </a:r>
                <a:endParaRPr lang="en-US" sz="15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1" name="Групувати 90">
              <a:extLst>
                <a:ext uri="{FF2B5EF4-FFF2-40B4-BE49-F238E27FC236}">
                  <a16:creationId xmlns:a16="http://schemas.microsoft.com/office/drawing/2014/main" id="{A0AB7634-3402-904C-7837-4DB6DFD53335}"/>
                </a:ext>
              </a:extLst>
            </p:cNvPr>
            <p:cNvGrpSpPr/>
            <p:nvPr/>
          </p:nvGrpSpPr>
          <p:grpSpPr>
            <a:xfrm>
              <a:off x="8092440" y="5486400"/>
              <a:ext cx="2971800" cy="566928"/>
              <a:chOff x="8092440" y="5486400"/>
              <a:chExt cx="2971800" cy="566928"/>
            </a:xfrm>
          </p:grpSpPr>
          <p:sp>
            <p:nvSpPr>
              <p:cNvPr id="70" name="Shape 68"/>
              <p:cNvSpPr/>
              <p:nvPr/>
            </p:nvSpPr>
            <p:spPr>
              <a:xfrm>
                <a:off x="8092440" y="5486400"/>
                <a:ext cx="2971800" cy="566928"/>
              </a:xfrm>
              <a:prstGeom prst="roundRect">
                <a:avLst>
                  <a:gd name="adj" fmla="val 14516"/>
                </a:avLst>
              </a:prstGeom>
              <a:solidFill>
                <a:srgbClr val="E9F8FB"/>
              </a:solidFill>
              <a:ln w="12700">
                <a:solidFill>
                  <a:srgbClr val="12AFCF">
                    <a:alpha val="60000"/>
                  </a:srgbClr>
                </a:solidFill>
                <a:prstDash val="solid"/>
              </a:ln>
              <a:effectLst>
                <a:outerShdw blurRad="12700" dist="50800" dir="2700000" algn="bl" rotWithShape="0">
                  <a:srgbClr val="8A96A3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71" name="Shape 69"/>
              <p:cNvSpPr/>
              <p:nvPr/>
            </p:nvSpPr>
            <p:spPr>
              <a:xfrm>
                <a:off x="8293608" y="5577840"/>
                <a:ext cx="384048" cy="384048"/>
              </a:xfrm>
              <a:prstGeom prst="ellipse">
                <a:avLst/>
              </a:prstGeom>
              <a:solidFill>
                <a:srgbClr val="12AFCF"/>
              </a:solidFill>
              <a:ln w="12700">
                <a:solidFill>
                  <a:srgbClr val="12AFC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72" name="Shape 70"/>
              <p:cNvSpPr/>
              <p:nvPr/>
            </p:nvSpPr>
            <p:spPr>
              <a:xfrm>
                <a:off x="8408822" y="5662331"/>
                <a:ext cx="153619" cy="199705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73" name="Shape 71"/>
              <p:cNvSpPr/>
              <p:nvPr/>
            </p:nvSpPr>
            <p:spPr>
              <a:xfrm>
                <a:off x="8443387" y="5639288"/>
                <a:ext cx="84491" cy="46086"/>
              </a:xfrm>
              <a:prstGeom prst="roundRect">
                <a:avLst>
                  <a:gd name="adj" fmla="val 79365"/>
                </a:avLst>
              </a:prstGeom>
              <a:solidFill>
                <a:srgbClr val="FFFFFF"/>
              </a:solidFill>
              <a:ln w="12700">
                <a:solidFill>
                  <a:srgbClr val="12AFCF"/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75" name="Text 73"/>
              <p:cNvSpPr/>
              <p:nvPr/>
            </p:nvSpPr>
            <p:spPr>
              <a:xfrm>
                <a:off x="8805672" y="5632704"/>
                <a:ext cx="213055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550" b="1" dirty="0">
                    <a:solidFill>
                      <a:srgbClr val="233040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сервісна заявка</a:t>
                </a:r>
                <a:endParaRPr lang="en-US" sz="15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9" name="Групувати 88">
              <a:extLst>
                <a:ext uri="{FF2B5EF4-FFF2-40B4-BE49-F238E27FC236}">
                  <a16:creationId xmlns:a16="http://schemas.microsoft.com/office/drawing/2014/main" id="{CEF1E87C-1212-23B2-6618-428A07E1801D}"/>
                </a:ext>
              </a:extLst>
            </p:cNvPr>
            <p:cNvGrpSpPr/>
            <p:nvPr/>
          </p:nvGrpSpPr>
          <p:grpSpPr>
            <a:xfrm>
              <a:off x="960120" y="5486400"/>
              <a:ext cx="3246120" cy="566928"/>
              <a:chOff x="960120" y="5486400"/>
              <a:chExt cx="3246120" cy="566928"/>
            </a:xfrm>
          </p:grpSpPr>
          <p:sp>
            <p:nvSpPr>
              <p:cNvPr id="59" name="Shape 57"/>
              <p:cNvSpPr/>
              <p:nvPr/>
            </p:nvSpPr>
            <p:spPr>
              <a:xfrm>
                <a:off x="960120" y="5486400"/>
                <a:ext cx="3246120" cy="566928"/>
              </a:xfrm>
              <a:prstGeom prst="roundRect">
                <a:avLst>
                  <a:gd name="adj" fmla="val 14516"/>
                </a:avLst>
              </a:prstGeom>
              <a:solidFill>
                <a:srgbClr val="E9F8FB"/>
              </a:solidFill>
              <a:ln w="12700">
                <a:solidFill>
                  <a:srgbClr val="12AFCF">
                    <a:alpha val="60000"/>
                  </a:srgbClr>
                </a:solidFill>
                <a:prstDash val="solid"/>
              </a:ln>
              <a:effectLst>
                <a:outerShdw blurRad="12700" dist="50800" dir="2700000" algn="bl" rotWithShape="0">
                  <a:srgbClr val="8A96A3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60" name="Shape 58"/>
              <p:cNvSpPr/>
              <p:nvPr/>
            </p:nvSpPr>
            <p:spPr>
              <a:xfrm>
                <a:off x="1170614" y="5577840"/>
                <a:ext cx="384048" cy="384048"/>
              </a:xfrm>
              <a:prstGeom prst="ellipse">
                <a:avLst/>
              </a:prstGeom>
              <a:solidFill>
                <a:srgbClr val="12AFCF"/>
              </a:solidFill>
              <a:ln w="12700">
                <a:solidFill>
                  <a:srgbClr val="12AFC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65" name="Text 63"/>
              <p:cNvSpPr/>
              <p:nvPr/>
            </p:nvSpPr>
            <p:spPr>
              <a:xfrm>
                <a:off x="1673352" y="5632704"/>
                <a:ext cx="240487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550" b="1" dirty="0">
                    <a:solidFill>
                      <a:srgbClr val="233040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стан автомобіля</a:t>
                </a:r>
                <a:endParaRPr lang="en-US" sz="15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8" name="Графіка 77" descr="Car Mechanic outline">
                <a:extLst>
                  <a:ext uri="{FF2B5EF4-FFF2-40B4-BE49-F238E27FC236}">
                    <a16:creationId xmlns:a16="http://schemas.microsoft.com/office/drawing/2014/main" id="{517B0D98-FA3D-4870-3FD0-F2BB0B030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98169" y="5577840"/>
                <a:ext cx="347167" cy="347167"/>
              </a:xfrm>
              <a:prstGeom prst="rect">
                <a:avLst/>
              </a:prstGeom>
            </p:spPr>
          </p:pic>
        </p:grpSp>
      </p:grpSp>
      <p:pic>
        <p:nvPicPr>
          <p:cNvPr id="86" name="Графіка 85" descr="Wi-Fi outline">
            <a:extLst>
              <a:ext uri="{FF2B5EF4-FFF2-40B4-BE49-F238E27FC236}">
                <a16:creationId xmlns:a16="http://schemas.microsoft.com/office/drawing/2014/main" id="{8EF8927C-F25A-D4E3-33B0-3E0B860163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958" y="2452878"/>
            <a:ext cx="416052" cy="416052"/>
          </a:xfrm>
          <a:prstGeom prst="rect">
            <a:avLst/>
          </a:prstGeom>
        </p:spPr>
      </p:pic>
      <p:pic>
        <p:nvPicPr>
          <p:cNvPr id="87" name="Picture 3" descr="se_logo_cropped.png">
            <a:extLst>
              <a:ext uri="{FF2B5EF4-FFF2-40B4-BE49-F238E27FC236}">
                <a16:creationId xmlns:a16="http://schemas.microsoft.com/office/drawing/2014/main" id="{5FEEC464-6010-5260-1D77-38B2BCFFD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93" name="Oval 4">
            <a:extLst>
              <a:ext uri="{FF2B5EF4-FFF2-40B4-BE49-F238E27FC236}">
                <a16:creationId xmlns:a16="http://schemas.microsoft.com/office/drawing/2014/main" id="{5E8E5254-DAAA-D382-1280-CEB876691FC6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4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0E9FDAF-1173-F5D9-4E6B-9D51F3326DAE}"/>
              </a:ext>
            </a:extLst>
          </p:cNvPr>
          <p:cNvSpPr txBox="1"/>
          <p:nvPr/>
        </p:nvSpPr>
        <p:spPr>
          <a:xfrm>
            <a:off x="8951976" y="2796724"/>
            <a:ext cx="1171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uk-UA" sz="1200" b="1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Дані стану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6FB3DB29-9702-7E19-C2A2-9FA9196A4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1320" y="2358660"/>
            <a:ext cx="722376" cy="702328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61E3B8BE-035C-CB42-CEF4-869814569162}"/>
              </a:ext>
            </a:extLst>
          </p:cNvPr>
          <p:cNvSpPr txBox="1"/>
          <p:nvPr/>
        </p:nvSpPr>
        <p:spPr>
          <a:xfrm>
            <a:off x="1882902" y="2767953"/>
            <a:ext cx="1171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MQTT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3041"/>
          </a:solidFill>
          <a:ln w="12700">
            <a:solidFill>
              <a:srgbClr val="22304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75488" y="365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Ролі та функціональні можливості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84632" y="8686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Функціональність поділено відповідно до сценаріїв користувачів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4632" y="1234440"/>
            <a:ext cx="1024128" cy="36576"/>
          </a:xfrm>
          <a:prstGeom prst="rect">
            <a:avLst/>
          </a:prstGeom>
          <a:solidFill>
            <a:srgbClr val="F47421"/>
          </a:solidFill>
          <a:ln w="12700">
            <a:solidFill>
              <a:srgbClr val="F4742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75488" y="1481328"/>
            <a:ext cx="3401568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38100" dist="50800" dir="2700000" algn="bl" rotWithShape="0">
              <a:srgbClr val="909AA5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630936" y="1636776"/>
            <a:ext cx="640080" cy="640080"/>
          </a:xfrm>
          <a:prstGeom prst="ellipse">
            <a:avLst/>
          </a:prstGeom>
          <a:solidFill>
            <a:srgbClr val="11AFCB"/>
          </a:solidFill>
          <a:ln w="12700">
            <a:solidFill>
              <a:srgbClr val="11AFC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9" name="Text 6"/>
          <p:cNvSpPr/>
          <p:nvPr/>
        </p:nvSpPr>
        <p:spPr>
          <a:xfrm>
            <a:off x="1463040" y="1783080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Власник автомобіля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Android-застосунок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" y="2468880"/>
            <a:ext cx="3090672" cy="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Shape 9"/>
          <p:cNvSpPr/>
          <p:nvPr/>
        </p:nvSpPr>
        <p:spPr>
          <a:xfrm>
            <a:off x="658368" y="2679192"/>
            <a:ext cx="237744" cy="237744"/>
          </a:xfrm>
          <a:prstGeom prst="ellipse">
            <a:avLst/>
          </a:prstGeom>
          <a:solidFill>
            <a:srgbClr val="11AFCB"/>
          </a:solidFill>
          <a:ln w="12700">
            <a:solidFill>
              <a:srgbClr val="11AFC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Text 10"/>
          <p:cNvSpPr/>
          <p:nvPr/>
        </p:nvSpPr>
        <p:spPr>
          <a:xfrm>
            <a:off x="658368" y="2743201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24128" y="270662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Активація автомобіля</a:t>
            </a:r>
            <a:endParaRPr lang="en-US" sz="1170" dirty="0"/>
          </a:p>
        </p:txBody>
      </p:sp>
      <p:sp>
        <p:nvSpPr>
          <p:cNvPr id="15" name="Shape 12"/>
          <p:cNvSpPr/>
          <p:nvPr/>
        </p:nvSpPr>
        <p:spPr>
          <a:xfrm>
            <a:off x="2624328" y="2651760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3"/>
          <p:cNvSpPr/>
          <p:nvPr/>
        </p:nvSpPr>
        <p:spPr>
          <a:xfrm>
            <a:off x="2761488" y="267004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або QR-код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658368" y="3255264"/>
            <a:ext cx="237744" cy="237744"/>
          </a:xfrm>
          <a:prstGeom prst="ellipse">
            <a:avLst/>
          </a:prstGeom>
          <a:solidFill>
            <a:srgbClr val="11AFCB"/>
          </a:solidFill>
          <a:ln w="12700">
            <a:solidFill>
              <a:srgbClr val="11AFC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Text 15"/>
          <p:cNvSpPr/>
          <p:nvPr/>
        </p:nvSpPr>
        <p:spPr>
          <a:xfrm>
            <a:off x="658368" y="3323844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24128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Перегляд стану</a:t>
            </a:r>
            <a:endParaRPr lang="en-US" sz="1170" dirty="0"/>
          </a:p>
        </p:txBody>
      </p:sp>
      <p:sp>
        <p:nvSpPr>
          <p:cNvPr id="20" name="Shape 17"/>
          <p:cNvSpPr/>
          <p:nvPr/>
        </p:nvSpPr>
        <p:spPr>
          <a:xfrm>
            <a:off x="2624328" y="3227832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8"/>
          <p:cNvSpPr/>
          <p:nvPr/>
        </p:nvSpPr>
        <p:spPr>
          <a:xfrm>
            <a:off x="2761488" y="32461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авто, телеметрія, показники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658368" y="3831336"/>
            <a:ext cx="237744" cy="237744"/>
          </a:xfrm>
          <a:prstGeom prst="ellipse">
            <a:avLst/>
          </a:prstGeom>
          <a:solidFill>
            <a:srgbClr val="11AFCB"/>
          </a:solidFill>
          <a:ln w="12700">
            <a:solidFill>
              <a:srgbClr val="11AFC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3" name="Text 20"/>
          <p:cNvSpPr/>
          <p:nvPr/>
        </p:nvSpPr>
        <p:spPr>
          <a:xfrm>
            <a:off x="658368" y="3895344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24128" y="38587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Реакція на події</a:t>
            </a:r>
            <a:endParaRPr lang="en-US" sz="1170" dirty="0"/>
          </a:p>
        </p:txBody>
      </p:sp>
      <p:sp>
        <p:nvSpPr>
          <p:cNvPr id="25" name="Shape 22"/>
          <p:cNvSpPr/>
          <p:nvPr/>
        </p:nvSpPr>
        <p:spPr>
          <a:xfrm>
            <a:off x="2624328" y="3803904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Text 23"/>
          <p:cNvSpPr/>
          <p:nvPr/>
        </p:nvSpPr>
        <p:spPr>
          <a:xfrm>
            <a:off x="2761488" y="38221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попередження та сповіщення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658368" y="4407408"/>
            <a:ext cx="237744" cy="237744"/>
          </a:xfrm>
          <a:prstGeom prst="ellipse">
            <a:avLst/>
          </a:prstGeom>
          <a:solidFill>
            <a:srgbClr val="11AFCB"/>
          </a:solidFill>
          <a:ln w="12700">
            <a:solidFill>
              <a:srgbClr val="11AFC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8" name="Text 25"/>
          <p:cNvSpPr/>
          <p:nvPr/>
        </p:nvSpPr>
        <p:spPr>
          <a:xfrm>
            <a:off x="658368" y="4471416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24128" y="4434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Сервісна взаємодія</a:t>
            </a:r>
            <a:endParaRPr lang="en-US" sz="1170" dirty="0"/>
          </a:p>
        </p:txBody>
      </p:sp>
      <p:sp>
        <p:nvSpPr>
          <p:cNvPr id="30" name="Shape 27"/>
          <p:cNvSpPr/>
          <p:nvPr/>
        </p:nvSpPr>
        <p:spPr>
          <a:xfrm>
            <a:off x="2624328" y="4379976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8"/>
          <p:cNvSpPr/>
          <p:nvPr/>
        </p:nvSpPr>
        <p:spPr>
          <a:xfrm>
            <a:off x="2761488" y="439826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та історія обслуговування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4343400" y="1481328"/>
            <a:ext cx="3401568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38100" dist="50800" dir="2700000" algn="bl" rotWithShape="0">
              <a:srgbClr val="909AA5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3" name="Shape 30"/>
          <p:cNvSpPr/>
          <p:nvPr/>
        </p:nvSpPr>
        <p:spPr>
          <a:xfrm>
            <a:off x="4498848" y="1636776"/>
            <a:ext cx="640080" cy="640080"/>
          </a:xfrm>
          <a:prstGeom prst="ellipse">
            <a:avLst/>
          </a:prstGeom>
          <a:solidFill>
            <a:srgbClr val="F47421"/>
          </a:solidFill>
          <a:ln w="12700">
            <a:solidFill>
              <a:srgbClr val="F47421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35" name="Text 31"/>
          <p:cNvSpPr/>
          <p:nvPr/>
        </p:nvSpPr>
        <p:spPr>
          <a:xfrm>
            <a:off x="5330952" y="1783080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Технічний спеціаліст</a:t>
            </a:r>
            <a:endParaRPr lang="en-US" sz="1750" dirty="0"/>
          </a:p>
        </p:txBody>
      </p:sp>
      <p:sp>
        <p:nvSpPr>
          <p:cNvPr id="36" name="Text 32"/>
          <p:cNvSpPr/>
          <p:nvPr/>
        </p:nvSpPr>
        <p:spPr>
          <a:xfrm>
            <a:off x="5330952" y="210312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Вебзастосунок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4498848" y="2468880"/>
            <a:ext cx="3090672" cy="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8" name="Shape 34"/>
          <p:cNvSpPr/>
          <p:nvPr/>
        </p:nvSpPr>
        <p:spPr>
          <a:xfrm>
            <a:off x="4526280" y="2679192"/>
            <a:ext cx="237744" cy="237744"/>
          </a:xfrm>
          <a:prstGeom prst="ellipse">
            <a:avLst/>
          </a:prstGeom>
          <a:solidFill>
            <a:srgbClr val="F47421"/>
          </a:solidFill>
          <a:ln w="12700">
            <a:solidFill>
              <a:srgbClr val="F47421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9" name="Text 35"/>
          <p:cNvSpPr/>
          <p:nvPr/>
        </p:nvSpPr>
        <p:spPr>
          <a:xfrm>
            <a:off x="4526280" y="2752343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892040" y="270662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Призначені автомобілі</a:t>
            </a:r>
            <a:endParaRPr lang="en-US" sz="1170" dirty="0"/>
          </a:p>
        </p:txBody>
      </p:sp>
      <p:sp>
        <p:nvSpPr>
          <p:cNvPr id="41" name="Shape 37"/>
          <p:cNvSpPr/>
          <p:nvPr/>
        </p:nvSpPr>
        <p:spPr>
          <a:xfrm>
            <a:off x="6492240" y="2651760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2" name="Text 38"/>
          <p:cNvSpPr/>
          <p:nvPr/>
        </p:nvSpPr>
        <p:spPr>
          <a:xfrm>
            <a:off x="6629400" y="267004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до своїх об’єктів</a:t>
            </a:r>
            <a:endParaRPr lang="en-US" sz="1040" dirty="0"/>
          </a:p>
        </p:txBody>
      </p:sp>
      <p:sp>
        <p:nvSpPr>
          <p:cNvPr id="43" name="Shape 39"/>
          <p:cNvSpPr/>
          <p:nvPr/>
        </p:nvSpPr>
        <p:spPr>
          <a:xfrm>
            <a:off x="4526280" y="3255264"/>
            <a:ext cx="237744" cy="237744"/>
          </a:xfrm>
          <a:prstGeom prst="ellipse">
            <a:avLst/>
          </a:prstGeom>
          <a:solidFill>
            <a:srgbClr val="F47421"/>
          </a:solidFill>
          <a:ln w="12700">
            <a:solidFill>
              <a:srgbClr val="F47421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4" name="Text 40"/>
          <p:cNvSpPr/>
          <p:nvPr/>
        </p:nvSpPr>
        <p:spPr>
          <a:xfrm>
            <a:off x="4526280" y="3323844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4892040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Аналіз телеметрії</a:t>
            </a:r>
            <a:endParaRPr lang="en-US" sz="1170" dirty="0"/>
          </a:p>
        </p:txBody>
      </p:sp>
      <p:sp>
        <p:nvSpPr>
          <p:cNvPr id="46" name="Shape 42"/>
          <p:cNvSpPr/>
          <p:nvPr/>
        </p:nvSpPr>
        <p:spPr>
          <a:xfrm>
            <a:off x="6492240" y="3227832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7" name="Text 43"/>
          <p:cNvSpPr/>
          <p:nvPr/>
        </p:nvSpPr>
        <p:spPr>
          <a:xfrm>
            <a:off x="6629400" y="32461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історія, графіки, попередження</a:t>
            </a:r>
            <a:endParaRPr lang="en-US" sz="1040" dirty="0"/>
          </a:p>
        </p:txBody>
      </p:sp>
      <p:sp>
        <p:nvSpPr>
          <p:cNvPr id="48" name="Shape 44"/>
          <p:cNvSpPr/>
          <p:nvPr/>
        </p:nvSpPr>
        <p:spPr>
          <a:xfrm>
            <a:off x="4526280" y="3831336"/>
            <a:ext cx="237744" cy="237744"/>
          </a:xfrm>
          <a:prstGeom prst="ellipse">
            <a:avLst/>
          </a:prstGeom>
          <a:solidFill>
            <a:srgbClr val="F47421"/>
          </a:solidFill>
          <a:ln w="12700">
            <a:solidFill>
              <a:srgbClr val="F47421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9" name="Text 45"/>
          <p:cNvSpPr/>
          <p:nvPr/>
        </p:nvSpPr>
        <p:spPr>
          <a:xfrm>
            <a:off x="4526280" y="3895344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4892040" y="38587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Опрацювання заявок</a:t>
            </a:r>
            <a:endParaRPr lang="en-US" sz="1170" dirty="0"/>
          </a:p>
        </p:txBody>
      </p:sp>
      <p:sp>
        <p:nvSpPr>
          <p:cNvPr id="51" name="Shape 47"/>
          <p:cNvSpPr/>
          <p:nvPr/>
        </p:nvSpPr>
        <p:spPr>
          <a:xfrm>
            <a:off x="6492240" y="3803904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2" name="Text 48"/>
          <p:cNvSpPr/>
          <p:nvPr/>
        </p:nvSpPr>
        <p:spPr>
          <a:xfrm>
            <a:off x="6629400" y="38221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статуси, коментарі, результат</a:t>
            </a:r>
            <a:endParaRPr lang="en-US" sz="1040" dirty="0"/>
          </a:p>
        </p:txBody>
      </p:sp>
      <p:sp>
        <p:nvSpPr>
          <p:cNvPr id="53" name="Shape 49"/>
          <p:cNvSpPr/>
          <p:nvPr/>
        </p:nvSpPr>
        <p:spPr>
          <a:xfrm>
            <a:off x="4526280" y="4407408"/>
            <a:ext cx="237744" cy="237744"/>
          </a:xfrm>
          <a:prstGeom prst="ellipse">
            <a:avLst/>
          </a:prstGeom>
          <a:solidFill>
            <a:srgbClr val="F47421"/>
          </a:solidFill>
          <a:ln w="12700">
            <a:solidFill>
              <a:srgbClr val="F47421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4" name="Text 50"/>
          <p:cNvSpPr/>
          <p:nvPr/>
        </p:nvSpPr>
        <p:spPr>
          <a:xfrm>
            <a:off x="4526280" y="4471416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4892040" y="4434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Облік обслуговування</a:t>
            </a:r>
            <a:endParaRPr lang="en-US" sz="1170" dirty="0"/>
          </a:p>
        </p:txBody>
      </p:sp>
      <p:sp>
        <p:nvSpPr>
          <p:cNvPr id="56" name="Shape 52"/>
          <p:cNvSpPr/>
          <p:nvPr/>
        </p:nvSpPr>
        <p:spPr>
          <a:xfrm>
            <a:off x="6492240" y="4379976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7" name="Text 53"/>
          <p:cNvSpPr/>
          <p:nvPr/>
        </p:nvSpPr>
        <p:spPr>
          <a:xfrm>
            <a:off x="6629400" y="439826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технічних робіт</a:t>
            </a:r>
            <a:endParaRPr lang="en-US" sz="1040" dirty="0"/>
          </a:p>
        </p:txBody>
      </p:sp>
      <p:sp>
        <p:nvSpPr>
          <p:cNvPr id="58" name="Shape 54"/>
          <p:cNvSpPr/>
          <p:nvPr/>
        </p:nvSpPr>
        <p:spPr>
          <a:xfrm>
            <a:off x="8211312" y="1481328"/>
            <a:ext cx="3401568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38100" dist="50800" dir="2700000" algn="bl" rotWithShape="0">
              <a:srgbClr val="909AA5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9" name="Shape 55"/>
          <p:cNvSpPr/>
          <p:nvPr/>
        </p:nvSpPr>
        <p:spPr>
          <a:xfrm>
            <a:off x="8366760" y="1636776"/>
            <a:ext cx="640080" cy="640080"/>
          </a:xfrm>
          <a:prstGeom prst="ellipse">
            <a:avLst/>
          </a:prstGeom>
          <a:solidFill>
            <a:srgbClr val="0C385B"/>
          </a:solidFill>
          <a:ln w="12700">
            <a:solidFill>
              <a:srgbClr val="0C385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5632" y="1764792"/>
            <a:ext cx="411480" cy="411480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9198864" y="1783080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Адміністратор</a:t>
            </a:r>
            <a:endParaRPr lang="en-US" sz="1750" dirty="0"/>
          </a:p>
        </p:txBody>
      </p:sp>
      <p:sp>
        <p:nvSpPr>
          <p:cNvPr id="62" name="Text 57"/>
          <p:cNvSpPr/>
          <p:nvPr/>
        </p:nvSpPr>
        <p:spPr>
          <a:xfrm>
            <a:off x="9198864" y="210312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Вебзастосунок</a:t>
            </a:r>
            <a:endParaRPr lang="en-US" sz="1250" dirty="0"/>
          </a:p>
        </p:txBody>
      </p:sp>
      <p:sp>
        <p:nvSpPr>
          <p:cNvPr id="63" name="Shape 58"/>
          <p:cNvSpPr/>
          <p:nvPr/>
        </p:nvSpPr>
        <p:spPr>
          <a:xfrm>
            <a:off x="8366760" y="2468880"/>
            <a:ext cx="3090672" cy="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4" name="Shape 59"/>
          <p:cNvSpPr/>
          <p:nvPr/>
        </p:nvSpPr>
        <p:spPr>
          <a:xfrm>
            <a:off x="8394192" y="2679192"/>
            <a:ext cx="237744" cy="237744"/>
          </a:xfrm>
          <a:prstGeom prst="ellipse">
            <a:avLst/>
          </a:prstGeom>
          <a:solidFill>
            <a:srgbClr val="0C385B"/>
          </a:solidFill>
          <a:ln w="12700">
            <a:solidFill>
              <a:srgbClr val="0C385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5" name="Text 60"/>
          <p:cNvSpPr/>
          <p:nvPr/>
        </p:nvSpPr>
        <p:spPr>
          <a:xfrm>
            <a:off x="8394192" y="2752343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8759952" y="270662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Користувачі та ролі</a:t>
            </a:r>
            <a:endParaRPr lang="en-US" sz="1170" dirty="0"/>
          </a:p>
        </p:txBody>
      </p:sp>
      <p:sp>
        <p:nvSpPr>
          <p:cNvPr id="67" name="Shape 62"/>
          <p:cNvSpPr/>
          <p:nvPr/>
        </p:nvSpPr>
        <p:spPr>
          <a:xfrm>
            <a:off x="10360152" y="2651760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8" name="Text 63"/>
          <p:cNvSpPr/>
          <p:nvPr/>
        </p:nvSpPr>
        <p:spPr>
          <a:xfrm>
            <a:off x="10497312" y="267004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облікові записи й доступ</a:t>
            </a:r>
            <a:endParaRPr lang="en-US" sz="1040" dirty="0"/>
          </a:p>
        </p:txBody>
      </p:sp>
      <p:sp>
        <p:nvSpPr>
          <p:cNvPr id="69" name="Shape 64"/>
          <p:cNvSpPr/>
          <p:nvPr/>
        </p:nvSpPr>
        <p:spPr>
          <a:xfrm>
            <a:off x="8394192" y="3255264"/>
            <a:ext cx="237744" cy="237744"/>
          </a:xfrm>
          <a:prstGeom prst="ellipse">
            <a:avLst/>
          </a:prstGeom>
          <a:solidFill>
            <a:srgbClr val="0C385B"/>
          </a:solidFill>
          <a:ln w="12700">
            <a:solidFill>
              <a:srgbClr val="0C385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0" name="Text 65"/>
          <p:cNvSpPr/>
          <p:nvPr/>
        </p:nvSpPr>
        <p:spPr>
          <a:xfrm>
            <a:off x="8394192" y="3319271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71" name="Text 66"/>
          <p:cNvSpPr/>
          <p:nvPr/>
        </p:nvSpPr>
        <p:spPr>
          <a:xfrm>
            <a:off x="8769095" y="32964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Автомобілі та пристрої</a:t>
            </a:r>
            <a:endParaRPr lang="en-US" sz="1170" dirty="0"/>
          </a:p>
        </p:txBody>
      </p:sp>
      <p:sp>
        <p:nvSpPr>
          <p:cNvPr id="72" name="Shape 67"/>
          <p:cNvSpPr/>
          <p:nvPr/>
        </p:nvSpPr>
        <p:spPr>
          <a:xfrm>
            <a:off x="10360152" y="3227832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3" name="Text 68"/>
          <p:cNvSpPr/>
          <p:nvPr/>
        </p:nvSpPr>
        <p:spPr>
          <a:xfrm>
            <a:off x="10497312" y="32461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vehicles, devices, activation codes</a:t>
            </a:r>
            <a:endParaRPr lang="en-US" sz="1040" dirty="0"/>
          </a:p>
        </p:txBody>
      </p:sp>
      <p:sp>
        <p:nvSpPr>
          <p:cNvPr id="74" name="Shape 69"/>
          <p:cNvSpPr/>
          <p:nvPr/>
        </p:nvSpPr>
        <p:spPr>
          <a:xfrm>
            <a:off x="8394192" y="3831336"/>
            <a:ext cx="237744" cy="237744"/>
          </a:xfrm>
          <a:prstGeom prst="ellipse">
            <a:avLst/>
          </a:prstGeom>
          <a:solidFill>
            <a:srgbClr val="0C385B"/>
          </a:solidFill>
          <a:ln w="12700">
            <a:solidFill>
              <a:srgbClr val="0C385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5" name="Text 70"/>
          <p:cNvSpPr/>
          <p:nvPr/>
        </p:nvSpPr>
        <p:spPr>
          <a:xfrm>
            <a:off x="8394192" y="3904488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76" name="Text 71"/>
          <p:cNvSpPr/>
          <p:nvPr/>
        </p:nvSpPr>
        <p:spPr>
          <a:xfrm>
            <a:off x="8735568" y="384962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uk-UA" sz="10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Призначення спеціалістів</a:t>
            </a:r>
            <a:endParaRPr lang="en-US" sz="1000" dirty="0"/>
          </a:p>
        </p:txBody>
      </p:sp>
      <p:sp>
        <p:nvSpPr>
          <p:cNvPr id="77" name="Shape 72"/>
          <p:cNvSpPr/>
          <p:nvPr/>
        </p:nvSpPr>
        <p:spPr>
          <a:xfrm>
            <a:off x="10360152" y="3803904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8" name="Text 73"/>
          <p:cNvSpPr/>
          <p:nvPr/>
        </p:nvSpPr>
        <p:spPr>
          <a:xfrm>
            <a:off x="10497312" y="38221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компетенції, заявки, авто</a:t>
            </a:r>
            <a:endParaRPr lang="en-US" sz="1040" dirty="0"/>
          </a:p>
        </p:txBody>
      </p:sp>
      <p:sp>
        <p:nvSpPr>
          <p:cNvPr id="79" name="Shape 74"/>
          <p:cNvSpPr/>
          <p:nvPr/>
        </p:nvSpPr>
        <p:spPr>
          <a:xfrm>
            <a:off x="8394192" y="4407408"/>
            <a:ext cx="237744" cy="237744"/>
          </a:xfrm>
          <a:prstGeom prst="ellipse">
            <a:avLst/>
          </a:prstGeom>
          <a:solidFill>
            <a:srgbClr val="0C385B"/>
          </a:solidFill>
          <a:ln w="12700">
            <a:solidFill>
              <a:srgbClr val="0C385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777777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0" name="Text 75"/>
          <p:cNvSpPr/>
          <p:nvPr/>
        </p:nvSpPr>
        <p:spPr>
          <a:xfrm>
            <a:off x="8394192" y="4471416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81" name="Text 76"/>
          <p:cNvSpPr/>
          <p:nvPr/>
        </p:nvSpPr>
        <p:spPr>
          <a:xfrm>
            <a:off x="8759952" y="4434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системи</a:t>
            </a:r>
            <a:endParaRPr lang="en-US" sz="1170" dirty="0"/>
          </a:p>
        </p:txBody>
      </p:sp>
      <p:sp>
        <p:nvSpPr>
          <p:cNvPr id="82" name="Shape 77"/>
          <p:cNvSpPr/>
          <p:nvPr/>
        </p:nvSpPr>
        <p:spPr>
          <a:xfrm>
            <a:off x="10360152" y="4379976"/>
            <a:ext cx="0" cy="402336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3" name="Text 78"/>
          <p:cNvSpPr/>
          <p:nvPr/>
        </p:nvSpPr>
        <p:spPr>
          <a:xfrm>
            <a:off x="10497312" y="439826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пороги, журнал аудиту</a:t>
            </a:r>
            <a:endParaRPr lang="en-US" sz="1040" dirty="0"/>
          </a:p>
        </p:txBody>
      </p:sp>
      <p:sp>
        <p:nvSpPr>
          <p:cNvPr id="84" name="Text 79"/>
          <p:cNvSpPr/>
          <p:nvPr/>
        </p:nvSpPr>
        <p:spPr>
          <a:xfrm>
            <a:off x="0" y="502920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E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СПІЛЬНІ МОДУЛІ СИСТЕМИ</a:t>
            </a:r>
            <a:endParaRPr lang="en-US" sz="1250" dirty="0"/>
          </a:p>
        </p:txBody>
      </p:sp>
      <p:sp>
        <p:nvSpPr>
          <p:cNvPr id="85" name="Shape 80"/>
          <p:cNvSpPr/>
          <p:nvPr/>
        </p:nvSpPr>
        <p:spPr>
          <a:xfrm>
            <a:off x="1389888" y="5230368"/>
            <a:ext cx="10040112" cy="99669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38100" dist="50800" dir="2700000" algn="bl" rotWithShape="0">
              <a:srgbClr val="909AA5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grpSp>
        <p:nvGrpSpPr>
          <p:cNvPr id="109" name="Групувати 108">
            <a:extLst>
              <a:ext uri="{FF2B5EF4-FFF2-40B4-BE49-F238E27FC236}">
                <a16:creationId xmlns:a16="http://schemas.microsoft.com/office/drawing/2014/main" id="{E5B80FD8-1C4B-9346-6E24-7AA04DBF2BB8}"/>
              </a:ext>
            </a:extLst>
          </p:cNvPr>
          <p:cNvGrpSpPr/>
          <p:nvPr/>
        </p:nvGrpSpPr>
        <p:grpSpPr>
          <a:xfrm>
            <a:off x="1463040" y="5405369"/>
            <a:ext cx="2267712" cy="630936"/>
            <a:chOff x="1634564" y="5358384"/>
            <a:chExt cx="2084832" cy="429768"/>
          </a:xfrm>
        </p:grpSpPr>
        <p:sp>
          <p:nvSpPr>
            <p:cNvPr id="86" name="Shape 81"/>
            <p:cNvSpPr/>
            <p:nvPr/>
          </p:nvSpPr>
          <p:spPr>
            <a:xfrm>
              <a:off x="1634564" y="5358384"/>
              <a:ext cx="2084832" cy="429768"/>
            </a:xfrm>
            <a:prstGeom prst="roundRect">
              <a:avLst>
                <a:gd name="adj" fmla="val 25532"/>
              </a:avLst>
            </a:prstGeom>
            <a:solidFill>
              <a:srgbClr val="FFFFFF"/>
            </a:solidFill>
            <a:ln w="12700">
              <a:solidFill>
                <a:srgbClr val="E3E8EE"/>
              </a:solidFill>
              <a:prstDash val="solid"/>
            </a:ln>
            <a:effectLst>
              <a:outerShdw blurRad="38100" dist="50800" dir="2700000" algn="bl" rotWithShape="0">
                <a:srgbClr val="909AA5">
                  <a:alpha val="18000"/>
                </a:srgbClr>
              </a:outerShdw>
            </a:effectLst>
          </p:spPr>
          <p:txBody>
            <a:bodyPr/>
            <a:lstStyle/>
            <a:p>
              <a:endParaRPr lang="uk-UA" dirty="0"/>
            </a:p>
          </p:txBody>
        </p:sp>
        <p:sp>
          <p:nvSpPr>
            <p:cNvPr id="87" name="Shape 82"/>
            <p:cNvSpPr/>
            <p:nvPr/>
          </p:nvSpPr>
          <p:spPr>
            <a:xfrm>
              <a:off x="1700784" y="5413248"/>
              <a:ext cx="338328" cy="338328"/>
            </a:xfrm>
            <a:prstGeom prst="ellipse">
              <a:avLst/>
            </a:prstGeom>
            <a:solidFill>
              <a:srgbClr val="11AFCB"/>
            </a:solidFill>
            <a:ln w="12700">
              <a:solidFill>
                <a:srgbClr val="11AFCB">
                  <a:alpha val="0"/>
                </a:srgbClr>
              </a:solidFill>
              <a:prstDash val="solid"/>
            </a:ln>
            <a:effectLst>
              <a:outerShdw blurRad="25400" dist="50800" dir="2700000" algn="bl" rotWithShape="0">
                <a:srgbClr val="777777">
                  <a:alpha val="18000"/>
                </a:srgbClr>
              </a:outerShdw>
            </a:effectLst>
          </p:spPr>
          <p:txBody>
            <a:bodyPr/>
            <a:lstStyle/>
            <a:p>
              <a:endParaRPr lang="uk-UA"/>
            </a:p>
          </p:txBody>
        </p:sp>
        <p:pic>
          <p:nvPicPr>
            <p:cNvPr id="88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73936" y="5490972"/>
              <a:ext cx="192024" cy="192024"/>
            </a:xfrm>
            <a:prstGeom prst="rect">
              <a:avLst/>
            </a:prstGeom>
          </p:spPr>
        </p:pic>
        <p:sp>
          <p:nvSpPr>
            <p:cNvPr id="89" name="Text 83"/>
            <p:cNvSpPr/>
            <p:nvPr/>
          </p:nvSpPr>
          <p:spPr>
            <a:xfrm>
              <a:off x="2101203" y="5437631"/>
              <a:ext cx="135331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230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Доступ:</a:t>
              </a:r>
              <a:endParaRPr lang="en-US" sz="1200" dirty="0"/>
            </a:p>
          </p:txBody>
        </p:sp>
        <p:sp>
          <p:nvSpPr>
            <p:cNvPr id="90" name="Text 84"/>
            <p:cNvSpPr/>
            <p:nvPr/>
          </p:nvSpPr>
          <p:spPr>
            <a:xfrm>
              <a:off x="2101203" y="5605272"/>
              <a:ext cx="141732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30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auth / users / roles</a:t>
              </a:r>
              <a:endParaRPr lang="en-US" sz="1000" dirty="0"/>
            </a:p>
          </p:txBody>
        </p:sp>
      </p:grpSp>
      <p:grpSp>
        <p:nvGrpSpPr>
          <p:cNvPr id="130" name="Групувати 129">
            <a:extLst>
              <a:ext uri="{FF2B5EF4-FFF2-40B4-BE49-F238E27FC236}">
                <a16:creationId xmlns:a16="http://schemas.microsoft.com/office/drawing/2014/main" id="{7429C154-A1D6-6EC1-DA67-E085CB1E629E}"/>
              </a:ext>
            </a:extLst>
          </p:cNvPr>
          <p:cNvGrpSpPr/>
          <p:nvPr/>
        </p:nvGrpSpPr>
        <p:grpSpPr>
          <a:xfrm>
            <a:off x="6258816" y="5405370"/>
            <a:ext cx="2661462" cy="630936"/>
            <a:chOff x="6272784" y="5358384"/>
            <a:chExt cx="2212786" cy="429768"/>
          </a:xfrm>
        </p:grpSpPr>
        <p:sp>
          <p:nvSpPr>
            <p:cNvPr id="96" name="Shape 89"/>
            <p:cNvSpPr/>
            <p:nvPr/>
          </p:nvSpPr>
          <p:spPr>
            <a:xfrm>
              <a:off x="6272784" y="5358384"/>
              <a:ext cx="1984248" cy="429768"/>
            </a:xfrm>
            <a:prstGeom prst="roundRect">
              <a:avLst>
                <a:gd name="adj" fmla="val 25532"/>
              </a:avLst>
            </a:prstGeom>
            <a:solidFill>
              <a:srgbClr val="FFFFFF"/>
            </a:solidFill>
            <a:ln w="12700">
              <a:solidFill>
                <a:srgbClr val="E3E8EE"/>
              </a:solidFill>
              <a:prstDash val="solid"/>
            </a:ln>
            <a:effectLst>
              <a:outerShdw blurRad="38100" dist="50800" dir="2700000" algn="bl" rotWithShape="0">
                <a:srgbClr val="909AA5">
                  <a:alpha val="18000"/>
                </a:srgbClr>
              </a:outerShdw>
            </a:effectLst>
          </p:spPr>
          <p:txBody>
            <a:bodyPr/>
            <a:lstStyle/>
            <a:p>
              <a:endParaRPr lang="uk-UA"/>
            </a:p>
          </p:txBody>
        </p:sp>
        <p:sp>
          <p:nvSpPr>
            <p:cNvPr id="97" name="Shape 90"/>
            <p:cNvSpPr/>
            <p:nvPr/>
          </p:nvSpPr>
          <p:spPr>
            <a:xfrm>
              <a:off x="6364224" y="5413248"/>
              <a:ext cx="338328" cy="338328"/>
            </a:xfrm>
            <a:prstGeom prst="ellipse">
              <a:avLst/>
            </a:prstGeom>
            <a:solidFill>
              <a:srgbClr val="0F64B6"/>
            </a:solidFill>
            <a:ln w="12700">
              <a:solidFill>
                <a:srgbClr val="0F64B6">
                  <a:alpha val="0"/>
                </a:srgbClr>
              </a:solidFill>
              <a:prstDash val="solid"/>
            </a:ln>
            <a:effectLst>
              <a:outerShdw blurRad="25400" dist="50800" dir="2700000" algn="bl" rotWithShape="0">
                <a:srgbClr val="777777">
                  <a:alpha val="18000"/>
                </a:srgbClr>
              </a:outerShdw>
            </a:effectLst>
          </p:spPr>
          <p:txBody>
            <a:bodyPr/>
            <a:lstStyle/>
            <a:p>
              <a:endParaRPr lang="uk-UA"/>
            </a:p>
          </p:txBody>
        </p:sp>
        <p:pic>
          <p:nvPicPr>
            <p:cNvPr id="98" name="Image 5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7376" y="5486400"/>
              <a:ext cx="192024" cy="192024"/>
            </a:xfrm>
            <a:prstGeom prst="rect">
              <a:avLst/>
            </a:prstGeom>
          </p:spPr>
        </p:pic>
        <p:sp>
          <p:nvSpPr>
            <p:cNvPr id="99" name="Text 91"/>
            <p:cNvSpPr/>
            <p:nvPr/>
          </p:nvSpPr>
          <p:spPr>
            <a:xfrm>
              <a:off x="6748272" y="5413248"/>
              <a:ext cx="135331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230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Моніторинг</a:t>
              </a:r>
              <a:r>
                <a:rPr lang="en-US" sz="1020" b="1" dirty="0">
                  <a:solidFill>
                    <a:srgbClr val="2230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:</a:t>
              </a:r>
              <a:endParaRPr lang="en-US" sz="1020" dirty="0"/>
            </a:p>
          </p:txBody>
        </p:sp>
        <p:sp>
          <p:nvSpPr>
            <p:cNvPr id="100" name="Text 92"/>
            <p:cNvSpPr/>
            <p:nvPr/>
          </p:nvSpPr>
          <p:spPr>
            <a:xfrm>
              <a:off x="6756068" y="5558650"/>
              <a:ext cx="1729502" cy="1974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3041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telemetry / thresholds /alerts / notifications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1" name="Групувати 130">
            <a:extLst>
              <a:ext uri="{FF2B5EF4-FFF2-40B4-BE49-F238E27FC236}">
                <a16:creationId xmlns:a16="http://schemas.microsoft.com/office/drawing/2014/main" id="{D767629A-3895-2DF5-E20A-6F086E776AC8}"/>
              </a:ext>
            </a:extLst>
          </p:cNvPr>
          <p:cNvGrpSpPr/>
          <p:nvPr/>
        </p:nvGrpSpPr>
        <p:grpSpPr>
          <a:xfrm>
            <a:off x="8761397" y="5405369"/>
            <a:ext cx="2500247" cy="621776"/>
            <a:chOff x="8741664" y="5358384"/>
            <a:chExt cx="1984248" cy="429768"/>
          </a:xfrm>
        </p:grpSpPr>
        <p:sp>
          <p:nvSpPr>
            <p:cNvPr id="101" name="Shape 93"/>
            <p:cNvSpPr/>
            <p:nvPr/>
          </p:nvSpPr>
          <p:spPr>
            <a:xfrm>
              <a:off x="8741664" y="5358384"/>
              <a:ext cx="1984248" cy="429768"/>
            </a:xfrm>
            <a:prstGeom prst="roundRect">
              <a:avLst>
                <a:gd name="adj" fmla="val 25532"/>
              </a:avLst>
            </a:prstGeom>
            <a:solidFill>
              <a:srgbClr val="FFFFFF"/>
            </a:solidFill>
            <a:ln w="12700">
              <a:solidFill>
                <a:srgbClr val="E3E8EE"/>
              </a:solidFill>
              <a:prstDash val="solid"/>
            </a:ln>
            <a:effectLst>
              <a:outerShdw blurRad="38100" dist="50800" dir="2700000" algn="bl" rotWithShape="0">
                <a:srgbClr val="909AA5">
                  <a:alpha val="18000"/>
                </a:srgbClr>
              </a:outerShdw>
            </a:effectLst>
          </p:spPr>
          <p:txBody>
            <a:bodyPr/>
            <a:lstStyle/>
            <a:p>
              <a:endParaRPr lang="uk-UA" dirty="0"/>
            </a:p>
          </p:txBody>
        </p:sp>
        <p:sp>
          <p:nvSpPr>
            <p:cNvPr id="102" name="Shape 94"/>
            <p:cNvSpPr/>
            <p:nvPr/>
          </p:nvSpPr>
          <p:spPr>
            <a:xfrm>
              <a:off x="8833104" y="5413248"/>
              <a:ext cx="338328" cy="338328"/>
            </a:xfrm>
            <a:prstGeom prst="ellipse">
              <a:avLst/>
            </a:prstGeom>
            <a:solidFill>
              <a:srgbClr val="0C385B"/>
            </a:solidFill>
            <a:ln w="12700">
              <a:solidFill>
                <a:srgbClr val="0C385B">
                  <a:alpha val="0"/>
                </a:srgbClr>
              </a:solidFill>
              <a:prstDash val="solid"/>
            </a:ln>
            <a:effectLst>
              <a:outerShdw blurRad="25400" dist="50800" dir="2700000" algn="bl" rotWithShape="0">
                <a:srgbClr val="777777">
                  <a:alpha val="18000"/>
                </a:srgbClr>
              </a:outerShdw>
            </a:effectLst>
          </p:spPr>
          <p:txBody>
            <a:bodyPr/>
            <a:lstStyle/>
            <a:p>
              <a:endParaRPr lang="uk-UA"/>
            </a:p>
          </p:txBody>
        </p:sp>
        <p:pic>
          <p:nvPicPr>
            <p:cNvPr id="103" name="Image 6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06256" y="5486400"/>
              <a:ext cx="192024" cy="192024"/>
            </a:xfrm>
            <a:prstGeom prst="rect">
              <a:avLst/>
            </a:prstGeom>
          </p:spPr>
        </p:pic>
        <p:sp>
          <p:nvSpPr>
            <p:cNvPr id="104" name="Text 95"/>
            <p:cNvSpPr/>
            <p:nvPr/>
          </p:nvSpPr>
          <p:spPr>
            <a:xfrm>
              <a:off x="9217152" y="5413248"/>
              <a:ext cx="135331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230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Сервіс і контроль:</a:t>
              </a:r>
              <a:endParaRPr lang="en-US" sz="1200" dirty="0"/>
            </a:p>
          </p:txBody>
        </p:sp>
        <p:sp>
          <p:nvSpPr>
            <p:cNvPr id="105" name="Text 96"/>
            <p:cNvSpPr/>
            <p:nvPr/>
          </p:nvSpPr>
          <p:spPr>
            <a:xfrm>
              <a:off x="9217152" y="5603195"/>
              <a:ext cx="141732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30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service / maintenance / audit</a:t>
              </a:r>
              <a:endParaRPr lang="en-US" sz="1000" dirty="0"/>
            </a:p>
          </p:txBody>
        </p:sp>
      </p:grpSp>
      <p:pic>
        <p:nvPicPr>
          <p:cNvPr id="113" name="Графіка 112" descr="Tools outline">
            <a:extLst>
              <a:ext uri="{FF2B5EF4-FFF2-40B4-BE49-F238E27FC236}">
                <a16:creationId xmlns:a16="http://schemas.microsoft.com/office/drawing/2014/main" id="{43387B40-1685-1010-5EBF-C15F227AEF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4004" y="1755648"/>
            <a:ext cx="429768" cy="429768"/>
          </a:xfrm>
          <a:prstGeom prst="rect">
            <a:avLst/>
          </a:prstGeom>
        </p:spPr>
      </p:pic>
      <p:pic>
        <p:nvPicPr>
          <p:cNvPr id="115" name="Графіка 114" descr="User outline">
            <a:extLst>
              <a:ext uri="{FF2B5EF4-FFF2-40B4-BE49-F238E27FC236}">
                <a16:creationId xmlns:a16="http://schemas.microsoft.com/office/drawing/2014/main" id="{38898AFF-09D8-EC60-5140-61F35F6646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468" y="1691641"/>
            <a:ext cx="509016" cy="509016"/>
          </a:xfrm>
          <a:prstGeom prst="rect">
            <a:avLst/>
          </a:prstGeom>
        </p:spPr>
      </p:pic>
      <p:pic>
        <p:nvPicPr>
          <p:cNvPr id="116" name="Picture 3" descr="se_logo_cropped.png">
            <a:extLst>
              <a:ext uri="{FF2B5EF4-FFF2-40B4-BE49-F238E27FC236}">
                <a16:creationId xmlns:a16="http://schemas.microsoft.com/office/drawing/2014/main" id="{0B193AE3-A53C-F6D2-F697-18C1BF281F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118" name="Oval 4">
            <a:extLst>
              <a:ext uri="{FF2B5EF4-FFF2-40B4-BE49-F238E27FC236}">
                <a16:creationId xmlns:a16="http://schemas.microsoft.com/office/drawing/2014/main" id="{CA658A4D-8DB2-A24B-A9F2-A1E0D05BF6EE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5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grpSp>
        <p:nvGrpSpPr>
          <p:cNvPr id="120" name="Групувати 119">
            <a:extLst>
              <a:ext uri="{FF2B5EF4-FFF2-40B4-BE49-F238E27FC236}">
                <a16:creationId xmlns:a16="http://schemas.microsoft.com/office/drawing/2014/main" id="{6BA55D96-46CC-2F2D-04A2-D2777324C8E0}"/>
              </a:ext>
            </a:extLst>
          </p:cNvPr>
          <p:cNvGrpSpPr/>
          <p:nvPr/>
        </p:nvGrpSpPr>
        <p:grpSpPr>
          <a:xfrm>
            <a:off x="3813214" y="5405369"/>
            <a:ext cx="2267712" cy="630936"/>
            <a:chOff x="1642091" y="5358384"/>
            <a:chExt cx="2084832" cy="429768"/>
          </a:xfrm>
        </p:grpSpPr>
        <p:sp>
          <p:nvSpPr>
            <p:cNvPr id="121" name="Shape 81">
              <a:extLst>
                <a:ext uri="{FF2B5EF4-FFF2-40B4-BE49-F238E27FC236}">
                  <a16:creationId xmlns:a16="http://schemas.microsoft.com/office/drawing/2014/main" id="{0515B03D-6D3E-E955-4D2A-03E142AC46BD}"/>
                </a:ext>
              </a:extLst>
            </p:cNvPr>
            <p:cNvSpPr/>
            <p:nvPr/>
          </p:nvSpPr>
          <p:spPr>
            <a:xfrm>
              <a:off x="1642091" y="5358384"/>
              <a:ext cx="2084832" cy="429768"/>
            </a:xfrm>
            <a:prstGeom prst="roundRect">
              <a:avLst>
                <a:gd name="adj" fmla="val 25532"/>
              </a:avLst>
            </a:prstGeom>
            <a:solidFill>
              <a:srgbClr val="FFFFFF"/>
            </a:solidFill>
            <a:ln w="12700">
              <a:solidFill>
                <a:srgbClr val="E3E8EE"/>
              </a:solidFill>
              <a:prstDash val="solid"/>
            </a:ln>
            <a:effectLst>
              <a:outerShdw blurRad="38100" dist="50800" dir="2700000" algn="bl" rotWithShape="0">
                <a:srgbClr val="909AA5">
                  <a:alpha val="18000"/>
                </a:srgbClr>
              </a:outerShdw>
            </a:effectLst>
          </p:spPr>
          <p:txBody>
            <a:bodyPr/>
            <a:lstStyle/>
            <a:p>
              <a:endParaRPr lang="uk-UA" dirty="0"/>
            </a:p>
          </p:txBody>
        </p:sp>
        <p:sp>
          <p:nvSpPr>
            <p:cNvPr id="122" name="Shape 82">
              <a:extLst>
                <a:ext uri="{FF2B5EF4-FFF2-40B4-BE49-F238E27FC236}">
                  <a16:creationId xmlns:a16="http://schemas.microsoft.com/office/drawing/2014/main" id="{EA0E9CC3-E561-AABD-FE87-A198D58E4213}"/>
                </a:ext>
              </a:extLst>
            </p:cNvPr>
            <p:cNvSpPr/>
            <p:nvPr/>
          </p:nvSpPr>
          <p:spPr>
            <a:xfrm>
              <a:off x="1700784" y="5413248"/>
              <a:ext cx="389909" cy="33832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11AFCB">
                  <a:alpha val="0"/>
                </a:srgbClr>
              </a:solidFill>
              <a:prstDash val="solid"/>
            </a:ln>
            <a:effectLst>
              <a:outerShdw blurRad="25400" dist="50800" dir="2700000" algn="bl" rotWithShape="0">
                <a:srgbClr val="777777">
                  <a:alpha val="18000"/>
                </a:srgbClr>
              </a:outerShdw>
            </a:effectLst>
          </p:spPr>
          <p:txBody>
            <a:bodyPr/>
            <a:lstStyle/>
            <a:p>
              <a:endParaRPr lang="uk-UA" dirty="0"/>
            </a:p>
          </p:txBody>
        </p:sp>
        <p:sp>
          <p:nvSpPr>
            <p:cNvPr id="124" name="Text 83">
              <a:extLst>
                <a:ext uri="{FF2B5EF4-FFF2-40B4-BE49-F238E27FC236}">
                  <a16:creationId xmlns:a16="http://schemas.microsoft.com/office/drawing/2014/main" id="{A86859A6-E6DD-546F-45D3-0EE4B3F39873}"/>
                </a:ext>
              </a:extLst>
            </p:cNvPr>
            <p:cNvSpPr/>
            <p:nvPr/>
          </p:nvSpPr>
          <p:spPr>
            <a:xfrm>
              <a:off x="2170519" y="5402245"/>
              <a:ext cx="135331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uk-UA" sz="1200" b="1" dirty="0">
                  <a:solidFill>
                    <a:srgbClr val="2230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Авто та </a:t>
              </a:r>
              <a:r>
                <a:rPr lang="en-US" sz="1200" b="1" dirty="0">
                  <a:solidFill>
                    <a:srgbClr val="2230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IoT:</a:t>
              </a:r>
              <a:endParaRPr lang="en-US" sz="1200" dirty="0"/>
            </a:p>
          </p:txBody>
        </p:sp>
        <p:sp>
          <p:nvSpPr>
            <p:cNvPr id="125" name="Text 84">
              <a:extLst>
                <a:ext uri="{FF2B5EF4-FFF2-40B4-BE49-F238E27FC236}">
                  <a16:creationId xmlns:a16="http://schemas.microsoft.com/office/drawing/2014/main" id="{5DA75477-485A-B6EC-CF71-AAC272A1E53D}"/>
                </a:ext>
              </a:extLst>
            </p:cNvPr>
            <p:cNvSpPr/>
            <p:nvPr/>
          </p:nvSpPr>
          <p:spPr>
            <a:xfrm>
              <a:off x="2170519" y="5566837"/>
              <a:ext cx="1248304" cy="184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62500" lnSpcReduction="20000"/>
            </a:bodyPr>
            <a:lstStyle/>
            <a:p>
              <a:r>
                <a:rPr lang="en-US" dirty="0">
                  <a:solidFill>
                    <a:srgbClr val="223041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vehicles/ devices / activation codes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940" dirty="0"/>
            </a:p>
          </p:txBody>
        </p:sp>
      </p:grpSp>
      <p:pic>
        <p:nvPicPr>
          <p:cNvPr id="129" name="Графіка 128" descr="Car outline">
            <a:extLst>
              <a:ext uri="{FF2B5EF4-FFF2-40B4-BE49-F238E27FC236}">
                <a16:creationId xmlns:a16="http://schemas.microsoft.com/office/drawing/2014/main" id="{9730769A-A93E-30B7-561E-4332A13C6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30355" y="5538721"/>
            <a:ext cx="370813" cy="3708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32D3A"/>
                </a:solidFill>
                <a:latin typeface="Arial"/>
              </a:rPr>
              <a:t>Архітектура системи Autonexis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06C7A"/>
                </a:solidFill>
                <a:latin typeface="Arial"/>
              </a:rPr>
              <a:t>Модульний моноліт із двома каналами взаємодії: MQTT для телеметрії та REST API для клієнтів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69848"/>
            <a:ext cx="960120" cy="32004"/>
          </a:xfrm>
          <a:prstGeom prst="rect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536192"/>
            <a:ext cx="1874519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1208" y="1664207"/>
            <a:ext cx="73152" cy="585216"/>
          </a:xfrm>
          <a:prstGeom prst="roundRect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682495"/>
            <a:ext cx="14630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Arial"/>
              </a:rPr>
              <a:t>ESP32 / Wokwi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65960"/>
            <a:ext cx="1463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606C7A"/>
                </a:solidFill>
                <a:latin typeface="Arial"/>
              </a:rPr>
              <a:t>IoT-рівень
публікує телеметрію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536192"/>
            <a:ext cx="184708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07208" y="1664207"/>
            <a:ext cx="73152" cy="5852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1682495"/>
            <a:ext cx="143560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Arial"/>
              </a:rPr>
              <a:t>MQTT broker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1965960"/>
            <a:ext cx="14356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rial"/>
              </a:rPr>
              <a:t>обмін повідомленнями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67912"/>
            <a:ext cx="1874519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1208" y="3995928"/>
            <a:ext cx="73152" cy="585216"/>
          </a:xfrm>
          <a:prstGeom prst="roundRect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4014216"/>
            <a:ext cx="14630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Arial"/>
              </a:rPr>
              <a:t>Web / Android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297680"/>
            <a:ext cx="1463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606C7A"/>
                </a:solidFill>
                <a:latin typeface="Arial"/>
              </a:rPr>
              <a:t>клієнтські застосунки
через REST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1115568"/>
            <a:ext cx="4069080" cy="3977639"/>
          </a:xfrm>
          <a:prstGeom prst="roundRect">
            <a:avLst/>
          </a:prstGeom>
          <a:solidFill>
            <a:srgbClr val="F2F7FA"/>
          </a:solidFill>
          <a:ln w="20320">
            <a:solidFill>
              <a:srgbClr val="14B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1298448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32D3A"/>
                </a:solidFill>
                <a:latin typeface="Arial"/>
              </a:rPr>
              <a:t>Go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581912"/>
            <a:ext cx="4069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606C7A"/>
                </a:solidFill>
                <a:latin typeface="Arial"/>
              </a:rPr>
              <a:t>модульний моноліт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1965960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dirty="0">
                <a:solidFill>
                  <a:srgbClr val="00839F"/>
                </a:solidFill>
                <a:latin typeface="Arial"/>
              </a:rPr>
              <a:t>MQTT consumer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965960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F57829"/>
                </a:solidFill>
                <a:latin typeface="Arial"/>
              </a:rPr>
              <a:t>REST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9804" y="2359932"/>
            <a:ext cx="153619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 err="1">
                <a:solidFill>
                  <a:srgbClr val="606C7A"/>
                </a:solidFill>
                <a:latin typeface="Arial"/>
              </a:rPr>
              <a:t>приймання</a:t>
            </a:r>
            <a:r>
              <a:rPr sz="1000" b="0" dirty="0">
                <a:solidFill>
                  <a:srgbClr val="606C7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606C7A"/>
                </a:solidFill>
                <a:latin typeface="Arial"/>
              </a:rPr>
              <a:t>телеметрії</a:t>
            </a:r>
            <a:endParaRPr sz="1000" b="0" dirty="0">
              <a:solidFill>
                <a:srgbClr val="606C7A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00900" y="2368296"/>
            <a:ext cx="153619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 err="1">
                <a:solidFill>
                  <a:srgbClr val="606C7A"/>
                </a:solidFill>
                <a:latin typeface="Arial"/>
              </a:rPr>
              <a:t>клієнтські</a:t>
            </a:r>
            <a:r>
              <a:rPr sz="1000" b="0" dirty="0">
                <a:solidFill>
                  <a:srgbClr val="606C7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606C7A"/>
                </a:solidFill>
                <a:latin typeface="Arial"/>
              </a:rPr>
              <a:t>запити</a:t>
            </a:r>
            <a:endParaRPr sz="1000" b="0" dirty="0">
              <a:solidFill>
                <a:srgbClr val="606C7A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257800" y="2752343"/>
            <a:ext cx="160020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0A3350"/>
                </a:solidFill>
                <a:latin typeface="Arial"/>
              </a:rPr>
              <a:t>auth / users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68896" y="2752343"/>
            <a:ext cx="160020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0A3350"/>
                </a:solidFill>
                <a:latin typeface="Arial"/>
              </a:rPr>
              <a:t>vehicles / devices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438144"/>
            <a:ext cx="160020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40" b="1" dirty="0">
                <a:solidFill>
                  <a:srgbClr val="00839F"/>
                </a:solidFill>
                <a:latin typeface="Arial"/>
              </a:rPr>
              <a:t>telemetry / thresholds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3438144"/>
            <a:ext cx="160020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40" b="1" dirty="0">
                <a:solidFill>
                  <a:srgbClr val="F57829"/>
                </a:solidFill>
                <a:latin typeface="Arial"/>
              </a:rPr>
              <a:t>alerts / notifications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233672"/>
            <a:ext cx="173736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0A3350"/>
                </a:solidFill>
                <a:latin typeface="Arial"/>
              </a:rPr>
              <a:t>service /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736592"/>
            <a:ext cx="40690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606C7A"/>
                </a:solidFill>
                <a:latin typeface="Arial"/>
              </a:rPr>
              <a:t>handlers + services + repositories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788920"/>
            <a:ext cx="1874519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93807" y="2916936"/>
            <a:ext cx="73152" cy="61264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76688" y="2935224"/>
            <a:ext cx="14630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Arial"/>
              </a:rPr>
              <a:t>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3218687"/>
            <a:ext cx="1463039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606C7A"/>
                </a:solidFill>
                <a:latin typeface="Arial"/>
              </a:rPr>
              <a:t>користувачі, авто,
телеметрія, події, заявки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960120"/>
            <a:ext cx="1874519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893807" y="1088136"/>
            <a:ext cx="73152" cy="493775"/>
          </a:xfrm>
          <a:prstGeom prst="roundRect">
            <a:avLst/>
          </a:prstGeom>
          <a:solidFill>
            <a:srgbClr val="0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76688" y="1106424"/>
            <a:ext cx="14630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Arial"/>
              </a:rPr>
              <a:t>Google OAuth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6688" y="1389888"/>
            <a:ext cx="1463039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0" b="0">
                <a:solidFill>
                  <a:srgbClr val="606C7A"/>
                </a:solidFill>
                <a:latin typeface="Arial"/>
              </a:rPr>
              <a:t>зовнішній провайдер
ідентифікації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331720" y="1856231"/>
            <a:ext cx="329184" cy="128016"/>
          </a:xfrm>
          <a:prstGeom prst="rightArrow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86000" y="16459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0839F"/>
                </a:solidFill>
                <a:latin typeface="Arial"/>
              </a:rPr>
              <a:t>MQTT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599432" y="1856231"/>
            <a:ext cx="347472" cy="12801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44568" y="16459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dirty="0">
                <a:solidFill>
                  <a:srgbClr val="00839F"/>
                </a:solidFill>
                <a:latin typeface="Arial"/>
              </a:rPr>
              <a:t>MQTT</a:t>
            </a:r>
          </a:p>
        </p:txBody>
      </p:sp>
      <p:sp>
        <p:nvSpPr>
          <p:cNvPr id="43" name="Left-Right Arrow 42"/>
          <p:cNvSpPr/>
          <p:nvPr/>
        </p:nvSpPr>
        <p:spPr>
          <a:xfrm>
            <a:off x="2331720" y="4178808"/>
            <a:ext cx="2615184" cy="146304"/>
          </a:xfrm>
          <a:prstGeom prst="leftRightArrow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46120" y="3941063"/>
            <a:ext cx="777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57829"/>
                </a:solidFill>
                <a:latin typeface="Arial"/>
              </a:rPr>
              <a:t>REST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3017520"/>
            <a:ext cx="6858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606C7A"/>
                </a:solidFill>
                <a:latin typeface="Arial"/>
              </a:rPr>
              <a:t>SQL 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9052560" y="1481328"/>
            <a:ext cx="713232" cy="146304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79992" y="1203995"/>
            <a:ext cx="67665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606C7A"/>
                </a:solidFill>
                <a:latin typeface="Arial"/>
              </a:rPr>
              <a:t>OAuth 2.0
OIDC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50173" y="5605270"/>
            <a:ext cx="9232939" cy="40233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18288" rtlCol="0" anchor="ctr"/>
          <a:lstStyle/>
          <a:p>
            <a:pPr algn="ctr"/>
            <a:r>
              <a:rPr sz="1100" dirty="0" err="1">
                <a:solidFill>
                  <a:srgbClr val="606C7A"/>
                </a:solidFill>
                <a:latin typeface="Arial"/>
              </a:rPr>
              <a:t>Архітектура</a:t>
            </a:r>
            <a:r>
              <a:rPr sz="1100" dirty="0">
                <a:solidFill>
                  <a:srgbClr val="606C7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розділяє</a:t>
            </a:r>
            <a:r>
              <a:rPr sz="1100" dirty="0">
                <a:solidFill>
                  <a:srgbClr val="606C7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канали</a:t>
            </a:r>
            <a:r>
              <a:rPr sz="1100" dirty="0">
                <a:solidFill>
                  <a:srgbClr val="606C7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взаємодії</a:t>
            </a:r>
            <a:r>
              <a:rPr sz="1100" dirty="0">
                <a:solidFill>
                  <a:srgbClr val="606C7A"/>
                </a:solidFill>
                <a:latin typeface="Arial"/>
              </a:rPr>
              <a:t>: MQTT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приймає</a:t>
            </a:r>
            <a:r>
              <a:rPr sz="1100" dirty="0">
                <a:solidFill>
                  <a:srgbClr val="606C7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телеметрію</a:t>
            </a:r>
            <a:r>
              <a:rPr sz="1100" dirty="0">
                <a:solidFill>
                  <a:srgbClr val="606C7A"/>
                </a:solidFill>
                <a:latin typeface="Arial"/>
              </a:rPr>
              <a:t>, REST API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обслуговує</a:t>
            </a:r>
            <a:r>
              <a:rPr sz="1100" dirty="0">
                <a:solidFill>
                  <a:srgbClr val="606C7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клієнтів</a:t>
            </a:r>
            <a:r>
              <a:rPr sz="1100" dirty="0">
                <a:solidFill>
                  <a:srgbClr val="606C7A"/>
                </a:solidFill>
                <a:latin typeface="Arial"/>
              </a:rPr>
              <a:t>, PostgreSQL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зберігає</a:t>
            </a:r>
            <a:r>
              <a:rPr sz="1100" dirty="0">
                <a:solidFill>
                  <a:srgbClr val="606C7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дані</a:t>
            </a:r>
            <a:r>
              <a:rPr sz="1100" dirty="0">
                <a:solidFill>
                  <a:srgbClr val="606C7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06C7A"/>
                </a:solidFill>
                <a:latin typeface="Arial"/>
              </a:rPr>
              <a:t>системи</a:t>
            </a:r>
            <a:r>
              <a:rPr sz="1100" dirty="0">
                <a:solidFill>
                  <a:srgbClr val="606C7A"/>
                </a:solidFill>
                <a:latin typeface="Arial"/>
              </a:rPr>
              <a:t>.</a:t>
            </a:r>
          </a:p>
        </p:txBody>
      </p:sp>
      <p:pic>
        <p:nvPicPr>
          <p:cNvPr id="50" name="Picture 3" descr="se_logo_cropped.png">
            <a:extLst>
              <a:ext uri="{FF2B5EF4-FFF2-40B4-BE49-F238E27FC236}">
                <a16:creationId xmlns:a16="http://schemas.microsoft.com/office/drawing/2014/main" id="{865FB51C-2527-3AFA-5DBB-04CC5588A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51" name="Oval 4">
            <a:extLst>
              <a:ext uri="{FF2B5EF4-FFF2-40B4-BE49-F238E27FC236}">
                <a16:creationId xmlns:a16="http://schemas.microsoft.com/office/drawing/2014/main" id="{2739A7BE-1AF9-5AAA-2532-CD45D40F0F3D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6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sp>
        <p:nvSpPr>
          <p:cNvPr id="52" name="Left-Right Arrow 42">
            <a:extLst>
              <a:ext uri="{FF2B5EF4-FFF2-40B4-BE49-F238E27FC236}">
                <a16:creationId xmlns:a16="http://schemas.microsoft.com/office/drawing/2014/main" id="{3850E567-0807-D8FB-B273-DE98D7953BC4}"/>
              </a:ext>
            </a:extLst>
          </p:cNvPr>
          <p:cNvSpPr/>
          <p:nvPr/>
        </p:nvSpPr>
        <p:spPr>
          <a:xfrm>
            <a:off x="9089135" y="3218687"/>
            <a:ext cx="658369" cy="164591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3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0896" y="3017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232D3A"/>
                </a:solidFill>
                <a:latin typeface="Arial"/>
              </a:rPr>
              <a:t>Модель даних / ключові сутності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704088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F6A78"/>
                </a:solidFill>
                <a:latin typeface="Arial"/>
              </a:rPr>
              <a:t>Головні сутності системи та ключові зв’язки між користувачами, авто, телеметрією і сервісними діями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987552"/>
            <a:ext cx="932688" cy="36576"/>
          </a:xfrm>
          <a:prstGeom prst="rect">
            <a:avLst/>
          </a:prstGeom>
          <a:solidFill>
            <a:srgbClr val="F27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1" name="Групувати 40">
            <a:extLst>
              <a:ext uri="{FF2B5EF4-FFF2-40B4-BE49-F238E27FC236}">
                <a16:creationId xmlns:a16="http://schemas.microsoft.com/office/drawing/2014/main" id="{670F973F-933C-2D5A-3058-9AB985A438D9}"/>
              </a:ext>
            </a:extLst>
          </p:cNvPr>
          <p:cNvGrpSpPr/>
          <p:nvPr/>
        </p:nvGrpSpPr>
        <p:grpSpPr>
          <a:xfrm>
            <a:off x="438912" y="1298448"/>
            <a:ext cx="2267712" cy="1508760"/>
            <a:chOff x="457200" y="1417320"/>
            <a:chExt cx="2267712" cy="1508760"/>
          </a:xfrm>
        </p:grpSpPr>
        <p:sp>
          <p:nvSpPr>
            <p:cNvPr id="6" name="Rounded Rectangle 5"/>
            <p:cNvSpPr/>
            <p:nvPr/>
          </p:nvSpPr>
          <p:spPr>
            <a:xfrm>
              <a:off x="457200" y="1417320"/>
              <a:ext cx="2267712" cy="1508760"/>
            </a:xfrm>
            <a:prstGeom prst="roundRect">
              <a:avLst/>
            </a:prstGeom>
            <a:solidFill>
              <a:srgbClr val="EDF4F9"/>
            </a:solidFill>
            <a:ln w="1270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" y="1417320"/>
              <a:ext cx="73152" cy="1417320"/>
            </a:xfrm>
            <a:prstGeom prst="rect">
              <a:avLst/>
            </a:prstGeom>
            <a:solidFill>
              <a:srgbClr val="0D3E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1517904"/>
              <a:ext cx="2039112" cy="21945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1" dirty="0" err="1">
                  <a:solidFill>
                    <a:srgbClr val="232D3A"/>
                  </a:solidFill>
                  <a:latin typeface="Arial"/>
                </a:rPr>
                <a:t>Доступ</a:t>
              </a:r>
              <a:r>
                <a:rPr sz="1400" b="1" dirty="0">
                  <a:solidFill>
                    <a:srgbClr val="232D3A"/>
                  </a:solidFill>
                  <a:latin typeface="Arial"/>
                </a:rPr>
                <a:t> і </a:t>
              </a:r>
              <a:r>
                <a:rPr sz="1400" b="1" dirty="0" err="1">
                  <a:solidFill>
                    <a:srgbClr val="232D3A"/>
                  </a:solidFill>
                  <a:latin typeface="Arial"/>
                </a:rPr>
                <a:t>користувачі</a:t>
              </a:r>
              <a:endParaRPr sz="1400" b="1" dirty="0">
                <a:solidFill>
                  <a:srgbClr val="232D3A"/>
                </a:solidFill>
                <a:latin typeface="Arial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1764792"/>
              <a:ext cx="2039112" cy="1645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облікові</a:t>
              </a:r>
              <a:r>
                <a:rPr sz="869" b="0" dirty="0">
                  <a:solidFill>
                    <a:srgbClr val="5F6A78"/>
                  </a:solidFill>
                  <a:latin typeface="Arial"/>
                </a:rPr>
                <a:t> </a:t>
              </a:r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записи</a:t>
              </a:r>
              <a:r>
                <a:rPr sz="869" b="0" dirty="0">
                  <a:solidFill>
                    <a:srgbClr val="5F6A78"/>
                  </a:solidFill>
                  <a:latin typeface="Arial"/>
                </a:rPr>
                <a:t>, </a:t>
              </a:r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ролі</a:t>
              </a:r>
              <a:r>
                <a:rPr sz="869" b="0" dirty="0">
                  <a:solidFill>
                    <a:srgbClr val="5F6A78"/>
                  </a:solidFill>
                  <a:latin typeface="Arial"/>
                </a:rPr>
                <a:t> </a:t>
              </a:r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та</a:t>
              </a:r>
              <a:r>
                <a:rPr sz="869" b="0" dirty="0">
                  <a:solidFill>
                    <a:srgbClr val="5F6A78"/>
                  </a:solidFill>
                  <a:latin typeface="Arial"/>
                </a:rPr>
                <a:t> </a:t>
              </a:r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журнал</a:t>
              </a:r>
              <a:r>
                <a:rPr sz="869" b="0" dirty="0">
                  <a:solidFill>
                    <a:srgbClr val="5F6A78"/>
                  </a:solidFill>
                  <a:latin typeface="Arial"/>
                </a:rPr>
                <a:t> </a:t>
              </a:r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дій</a:t>
              </a:r>
              <a:endParaRPr sz="869" b="0" dirty="0">
                <a:solidFill>
                  <a:srgbClr val="5F6A78"/>
                </a:solidFill>
                <a:latin typeface="Arial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85800" y="1965960"/>
              <a:ext cx="658368" cy="265176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8100" tIns="0" rIns="38100" bIns="0" rtlCol="0" anchor="ctr"/>
            <a:lstStyle/>
            <a:p>
              <a:pPr algn="ctr"/>
              <a:r>
                <a:rPr sz="1050" b="1">
                  <a:solidFill>
                    <a:srgbClr val="0D3E61"/>
                  </a:solidFill>
                  <a:latin typeface="Arial"/>
                </a:rPr>
                <a:t>users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85800" y="2383183"/>
              <a:ext cx="621792" cy="265176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8100" tIns="0" rIns="38100" bIns="0" rtlCol="0" anchor="ctr"/>
            <a:lstStyle/>
            <a:p>
              <a:pPr algn="ctr"/>
              <a:r>
                <a:rPr sz="1050" b="1" dirty="0">
                  <a:solidFill>
                    <a:srgbClr val="0D3E61"/>
                  </a:solidFill>
                  <a:latin typeface="Arial"/>
                </a:rPr>
                <a:t>roles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472184" y="1965960"/>
              <a:ext cx="1115568" cy="265176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8100" tIns="0" rIns="38100" bIns="0" rtlCol="0" anchor="ctr"/>
            <a:lstStyle/>
            <a:p>
              <a:pPr algn="ctr"/>
              <a:r>
                <a:rPr sz="930" b="1" dirty="0" err="1">
                  <a:solidFill>
                    <a:srgbClr val="0D3E61"/>
                  </a:solidFill>
                  <a:latin typeface="Arial"/>
                </a:rPr>
                <a:t>oauth_accounts</a:t>
              </a:r>
              <a:endParaRPr sz="930" b="1" dirty="0">
                <a:solidFill>
                  <a:srgbClr val="0D3E61"/>
                </a:solidFill>
                <a:latin typeface="Arial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691640" y="2395728"/>
              <a:ext cx="676656" cy="265176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8100" tIns="0" rIns="38100" bIns="0" rtlCol="0" anchor="ctr"/>
            <a:lstStyle/>
            <a:p>
              <a:pPr algn="ctr"/>
              <a:r>
                <a:rPr sz="980" b="1" dirty="0" err="1">
                  <a:solidFill>
                    <a:srgbClr val="0D3E61"/>
                  </a:solidFill>
                  <a:latin typeface="Arial"/>
                </a:rPr>
                <a:t>audit_logs</a:t>
              </a:r>
              <a:endParaRPr sz="980" b="1" dirty="0">
                <a:solidFill>
                  <a:srgbClr val="0D3E61"/>
                </a:solidFill>
                <a:latin typeface="Arial"/>
              </a:endParaRPr>
            </a:p>
          </p:txBody>
        </p:sp>
      </p:grpSp>
      <p:grpSp>
        <p:nvGrpSpPr>
          <p:cNvPr id="42" name="Групувати 41">
            <a:extLst>
              <a:ext uri="{FF2B5EF4-FFF2-40B4-BE49-F238E27FC236}">
                <a16:creationId xmlns:a16="http://schemas.microsoft.com/office/drawing/2014/main" id="{21A05608-4ED6-C2E5-4703-B79DB04F9982}"/>
              </a:ext>
            </a:extLst>
          </p:cNvPr>
          <p:cNvGrpSpPr/>
          <p:nvPr/>
        </p:nvGrpSpPr>
        <p:grpSpPr>
          <a:xfrm>
            <a:off x="3383280" y="1316736"/>
            <a:ext cx="3346704" cy="1636776"/>
            <a:chOff x="2999232" y="1289304"/>
            <a:chExt cx="3346704" cy="1636776"/>
          </a:xfrm>
        </p:grpSpPr>
        <p:sp>
          <p:nvSpPr>
            <p:cNvPr id="14" name="Rounded Rectangle 13"/>
            <p:cNvSpPr/>
            <p:nvPr/>
          </p:nvSpPr>
          <p:spPr>
            <a:xfrm>
              <a:off x="2999232" y="1289304"/>
              <a:ext cx="3346704" cy="1636776"/>
            </a:xfrm>
            <a:prstGeom prst="roundRect">
              <a:avLst/>
            </a:prstGeom>
            <a:solidFill>
              <a:srgbClr val="FDF2EC"/>
            </a:solidFill>
            <a:ln w="1270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999232" y="1289304"/>
              <a:ext cx="73152" cy="1636776"/>
            </a:xfrm>
            <a:prstGeom prst="rect">
              <a:avLst/>
            </a:prstGeom>
            <a:solidFill>
              <a:srgbClr val="F27A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758184" y="1389888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232D3A"/>
                </a:solidFill>
                <a:latin typeface="Arial"/>
              </a:rPr>
              <a:t>Автомобілі</a:t>
            </a:r>
            <a:r>
              <a:rPr sz="14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232D3A"/>
                </a:solidFill>
                <a:latin typeface="Arial"/>
              </a:rPr>
              <a:t>та</a:t>
            </a:r>
            <a:r>
              <a:rPr sz="1400" b="1" dirty="0">
                <a:solidFill>
                  <a:srgbClr val="232D3A"/>
                </a:solidFill>
                <a:latin typeface="Arial"/>
              </a:rPr>
              <a:t> 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1600200"/>
            <a:ext cx="314553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dirty="0" err="1">
                <a:solidFill>
                  <a:srgbClr val="5F6A78"/>
                </a:solidFill>
                <a:latin typeface="Arial"/>
              </a:rPr>
              <a:t>авто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,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пристрої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,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коди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активації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та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призначення</a:t>
            </a:r>
            <a:endParaRPr sz="869" b="0" dirty="0">
              <a:solidFill>
                <a:srgbClr val="5F6A78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760926" y="1837944"/>
            <a:ext cx="896112" cy="265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sz="1080" b="1" dirty="0">
                <a:solidFill>
                  <a:srgbClr val="F27A26"/>
                </a:solidFill>
                <a:latin typeface="Arial"/>
              </a:rPr>
              <a:t>vehicles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91175" y="1828800"/>
            <a:ext cx="804672" cy="265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sz="1080" b="1" dirty="0">
                <a:solidFill>
                  <a:srgbClr val="F27A26"/>
                </a:solidFill>
                <a:latin typeface="Arial"/>
              </a:rPr>
              <a:t>devices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58184" y="2203704"/>
            <a:ext cx="1097280" cy="265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sz="869" b="1" dirty="0" err="1">
                <a:solidFill>
                  <a:srgbClr val="F27A26"/>
                </a:solidFill>
                <a:latin typeface="Arial"/>
              </a:rPr>
              <a:t>activation_codes</a:t>
            </a:r>
            <a:endParaRPr sz="869" b="1" dirty="0">
              <a:solidFill>
                <a:srgbClr val="F27A26"/>
              </a:solidFill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144871" y="2194560"/>
            <a:ext cx="950976" cy="265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sz="900" b="1" dirty="0">
                <a:solidFill>
                  <a:srgbClr val="F27A26"/>
                </a:solidFill>
                <a:latin typeface="Arial"/>
              </a:rPr>
              <a:t>assignments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6824" y="2560320"/>
            <a:ext cx="1133856" cy="265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sz="880" b="1" dirty="0">
                <a:solidFill>
                  <a:srgbClr val="F27A26"/>
                </a:solidFill>
                <a:latin typeface="Arial"/>
              </a:rPr>
              <a:t>competencies</a:t>
            </a:r>
          </a:p>
        </p:txBody>
      </p:sp>
      <p:grpSp>
        <p:nvGrpSpPr>
          <p:cNvPr id="43" name="Групувати 42">
            <a:extLst>
              <a:ext uri="{FF2B5EF4-FFF2-40B4-BE49-F238E27FC236}">
                <a16:creationId xmlns:a16="http://schemas.microsoft.com/office/drawing/2014/main" id="{5B1B0DC0-D6F3-4FEE-D41A-8C0B059FBB69}"/>
              </a:ext>
            </a:extLst>
          </p:cNvPr>
          <p:cNvGrpSpPr/>
          <p:nvPr/>
        </p:nvGrpSpPr>
        <p:grpSpPr>
          <a:xfrm>
            <a:off x="1837944" y="3575304"/>
            <a:ext cx="4041648" cy="1865376"/>
            <a:chOff x="2651760" y="3273552"/>
            <a:chExt cx="4041648" cy="1865376"/>
          </a:xfrm>
        </p:grpSpPr>
        <p:sp>
          <p:nvSpPr>
            <p:cNvPr id="23" name="Rounded Rectangle 22"/>
            <p:cNvSpPr/>
            <p:nvPr/>
          </p:nvSpPr>
          <p:spPr>
            <a:xfrm>
              <a:off x="2651760" y="3273552"/>
              <a:ext cx="3931920" cy="1865376"/>
            </a:xfrm>
            <a:prstGeom prst="roundRect">
              <a:avLst/>
            </a:prstGeom>
            <a:solidFill>
              <a:srgbClr val="EBF9FB"/>
            </a:solidFill>
            <a:ln w="1270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651760" y="3273552"/>
              <a:ext cx="73152" cy="1764792"/>
            </a:xfrm>
            <a:prstGeom prst="rect">
              <a:avLst/>
            </a:prstGeom>
            <a:solidFill>
              <a:srgbClr val="009A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962656" y="3364992"/>
              <a:ext cx="3730752" cy="21945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1" dirty="0" err="1">
                  <a:solidFill>
                    <a:srgbClr val="232D3A"/>
                  </a:solidFill>
                  <a:latin typeface="Arial"/>
                </a:rPr>
                <a:t>Моніторинг</a:t>
              </a:r>
              <a:r>
                <a:rPr sz="140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400" b="1" dirty="0" err="1">
                  <a:solidFill>
                    <a:srgbClr val="232D3A"/>
                  </a:solidFill>
                  <a:latin typeface="Arial"/>
                </a:rPr>
                <a:t>технічного</a:t>
              </a:r>
              <a:r>
                <a:rPr sz="140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400" b="1" dirty="0" err="1">
                  <a:solidFill>
                    <a:srgbClr val="232D3A"/>
                  </a:solidFill>
                  <a:latin typeface="Arial"/>
                </a:rPr>
                <a:t>стану</a:t>
              </a:r>
              <a:endParaRPr sz="1400" b="1" dirty="0">
                <a:solidFill>
                  <a:srgbClr val="232D3A"/>
                </a:solidFill>
                <a:latin typeface="Arial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962656" y="3621024"/>
              <a:ext cx="3730752" cy="1645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телеметрія</a:t>
              </a:r>
              <a:r>
                <a:rPr sz="869" b="0" dirty="0">
                  <a:solidFill>
                    <a:srgbClr val="5F6A78"/>
                  </a:solidFill>
                  <a:latin typeface="Arial"/>
                </a:rPr>
                <a:t>, </a:t>
              </a:r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пороги</a:t>
              </a:r>
              <a:r>
                <a:rPr sz="869" b="0" dirty="0">
                  <a:solidFill>
                    <a:srgbClr val="5F6A78"/>
                  </a:solidFill>
                  <a:latin typeface="Arial"/>
                </a:rPr>
                <a:t>, </a:t>
              </a:r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попередження</a:t>
              </a:r>
              <a:r>
                <a:rPr sz="869" b="0" dirty="0">
                  <a:solidFill>
                    <a:srgbClr val="5F6A78"/>
                  </a:solidFill>
                  <a:latin typeface="Arial"/>
                </a:rPr>
                <a:t> і </a:t>
              </a:r>
              <a:r>
                <a:rPr sz="869" b="0" dirty="0" err="1">
                  <a:solidFill>
                    <a:srgbClr val="5F6A78"/>
                  </a:solidFill>
                  <a:latin typeface="Arial"/>
                </a:rPr>
                <a:t>сповіщення</a:t>
              </a:r>
              <a:endParaRPr sz="869" b="0" dirty="0">
                <a:solidFill>
                  <a:srgbClr val="5F6A78"/>
                </a:solidFill>
                <a:latin typeface="Arial"/>
              </a:endParaRP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962656" y="3822191"/>
              <a:ext cx="1234440" cy="274320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8100" tIns="0" rIns="38100" bIns="0" rtlCol="0" anchor="ctr"/>
            <a:lstStyle/>
            <a:p>
              <a:pPr algn="ctr"/>
              <a:r>
                <a:rPr sz="930" b="1" dirty="0" err="1">
                  <a:solidFill>
                    <a:srgbClr val="009AB8"/>
                  </a:solidFill>
                  <a:latin typeface="Arial"/>
                </a:rPr>
                <a:t>telemetry_records</a:t>
              </a:r>
              <a:endParaRPr sz="930" b="1" dirty="0">
                <a:solidFill>
                  <a:srgbClr val="009AB8"/>
                </a:solidFill>
                <a:latin typeface="Arial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544568" y="3822191"/>
              <a:ext cx="1261872" cy="274320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8100" tIns="0" rIns="38100" bIns="0" rtlCol="0" anchor="ctr"/>
            <a:lstStyle/>
            <a:p>
              <a:pPr algn="ctr"/>
              <a:r>
                <a:rPr sz="890" b="1" dirty="0" err="1">
                  <a:solidFill>
                    <a:srgbClr val="009AB8"/>
                  </a:solidFill>
                  <a:latin typeface="Arial"/>
                </a:rPr>
                <a:t>threshold_settings</a:t>
              </a:r>
              <a:endParaRPr sz="890" b="1" dirty="0">
                <a:solidFill>
                  <a:srgbClr val="009AB8"/>
                </a:solidFill>
                <a:latin typeface="Arial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811780" y="4498849"/>
              <a:ext cx="768096" cy="274320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8100" tIns="0" rIns="38100" bIns="0" rtlCol="0" anchor="ctr"/>
            <a:lstStyle/>
            <a:p>
              <a:pPr algn="ctr"/>
              <a:r>
                <a:rPr sz="1050" b="1" dirty="0">
                  <a:solidFill>
                    <a:srgbClr val="F27A26"/>
                  </a:solidFill>
                  <a:latin typeface="Arial"/>
                </a:rPr>
                <a:t>alerts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934559" y="4489706"/>
              <a:ext cx="1024128" cy="274320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2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8100" tIns="0" rIns="38100" bIns="0" rtlCol="0" anchor="ctr"/>
            <a:lstStyle/>
            <a:p>
              <a:pPr algn="ctr"/>
              <a:r>
                <a:rPr sz="930" b="1" dirty="0">
                  <a:solidFill>
                    <a:srgbClr val="009AB8"/>
                  </a:solidFill>
                  <a:latin typeface="Arial"/>
                </a:rPr>
                <a:t>notifications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7114032" y="3401568"/>
            <a:ext cx="3851910" cy="1481328"/>
          </a:xfrm>
          <a:prstGeom prst="roundRect">
            <a:avLst/>
          </a:prstGeom>
          <a:solidFill>
            <a:srgbClr val="FDF2EC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7114032" y="3401568"/>
            <a:ext cx="73152" cy="1481328"/>
          </a:xfrm>
          <a:prstGeom prst="rect">
            <a:avLst/>
          </a:prstGeom>
          <a:solidFill>
            <a:srgbClr val="F27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4929" y="3474720"/>
            <a:ext cx="313639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232D3A"/>
                </a:solidFill>
                <a:latin typeface="Arial"/>
              </a:rPr>
              <a:t>Сервісні</a:t>
            </a:r>
            <a:r>
              <a:rPr sz="14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232D3A"/>
                </a:solidFill>
                <a:latin typeface="Arial"/>
              </a:rPr>
              <a:t>дії</a:t>
            </a:r>
            <a:endParaRPr sz="14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24928" y="3712464"/>
            <a:ext cx="3136391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dirty="0" err="1">
                <a:solidFill>
                  <a:srgbClr val="5F6A78"/>
                </a:solidFill>
                <a:latin typeface="Arial"/>
              </a:rPr>
              <a:t>заявки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та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результати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технічного</a:t>
            </a:r>
            <a:r>
              <a:rPr sz="869" b="0" dirty="0">
                <a:solidFill>
                  <a:srgbClr val="5F6A78"/>
                </a:solidFill>
                <a:latin typeface="Arial"/>
              </a:rPr>
              <a:t> </a:t>
            </a:r>
            <a:r>
              <a:rPr sz="869" b="0" dirty="0" err="1">
                <a:solidFill>
                  <a:srgbClr val="5F6A78"/>
                </a:solidFill>
                <a:latin typeface="Arial"/>
              </a:rPr>
              <a:t>обслуговування</a:t>
            </a:r>
            <a:endParaRPr sz="869" b="0" dirty="0">
              <a:solidFill>
                <a:srgbClr val="5F6A78"/>
              </a:solidFill>
              <a:latin typeface="Arial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406640" y="3913632"/>
            <a:ext cx="1188720" cy="274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sz="880" b="1">
                <a:solidFill>
                  <a:srgbClr val="F27A26"/>
                </a:solidFill>
                <a:latin typeface="Arial"/>
              </a:rPr>
              <a:t>service_requests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4325112"/>
            <a:ext cx="1335024" cy="274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sz="869" b="1" dirty="0" err="1">
                <a:solidFill>
                  <a:srgbClr val="F27A26"/>
                </a:solidFill>
                <a:latin typeface="Arial"/>
              </a:rPr>
              <a:t>maintenance_records</a:t>
            </a:r>
            <a:endParaRPr sz="869" b="1" dirty="0">
              <a:solidFill>
                <a:srgbClr val="F27A26"/>
              </a:solidFill>
              <a:latin typeface="Arial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600200" y="5724144"/>
            <a:ext cx="88696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60220" y="5806440"/>
            <a:ext cx="85496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232D3A"/>
                </a:solidFill>
                <a:latin typeface="Arial"/>
              </a:rPr>
              <a:t>Ключова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ідея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: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telemetry_records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пов’язує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IoT-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рівень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із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автомобілем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, а alerts </a:t>
            </a:r>
            <a:r>
              <a:rPr lang="uk-UA" sz="1200" b="0" dirty="0">
                <a:solidFill>
                  <a:srgbClr val="232D3A"/>
                </a:solidFill>
                <a:latin typeface="Arial"/>
              </a:rPr>
              <a:t>і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service_requests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показують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перехід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від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діагностики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до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сервісної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D3A"/>
                </a:solidFill>
                <a:latin typeface="Arial"/>
              </a:rPr>
              <a:t>дії</a:t>
            </a:r>
            <a:r>
              <a:rPr sz="1200" b="0" dirty="0">
                <a:solidFill>
                  <a:srgbClr val="232D3A"/>
                </a:solidFill>
                <a:latin typeface="Arial"/>
              </a:rPr>
              <a:t>.</a:t>
            </a:r>
          </a:p>
        </p:txBody>
      </p:sp>
      <p:pic>
        <p:nvPicPr>
          <p:cNvPr id="39" name="Picture 3" descr="se_logo_cropped.png">
            <a:extLst>
              <a:ext uri="{FF2B5EF4-FFF2-40B4-BE49-F238E27FC236}">
                <a16:creationId xmlns:a16="http://schemas.microsoft.com/office/drawing/2014/main" id="{1CE0F8E4-A8EE-9A7F-2B55-ACFD13173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40" name="Oval 4">
            <a:extLst>
              <a:ext uri="{FF2B5EF4-FFF2-40B4-BE49-F238E27FC236}">
                <a16:creationId xmlns:a16="http://schemas.microsoft.com/office/drawing/2014/main" id="{A8C8C53A-D1A0-EA75-ADC8-ADD53A769A2B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7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cxnSp>
        <p:nvCxnSpPr>
          <p:cNvPr id="44" name="Connector 36">
            <a:extLst>
              <a:ext uri="{FF2B5EF4-FFF2-40B4-BE49-F238E27FC236}">
                <a16:creationId xmlns:a16="http://schemas.microsoft.com/office/drawing/2014/main" id="{9C945E90-5EAD-C5D5-9D7F-2EDA79AB6233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2706624" y="2052828"/>
            <a:ext cx="676656" cy="82296"/>
          </a:xfrm>
          <a:prstGeom prst="bentConnector3">
            <a:avLst/>
          </a:prstGeom>
          <a:ln w="22860">
            <a:solidFill>
              <a:srgbClr val="0D3E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36833C5-9C72-1467-058A-60CB30D3028F}"/>
              </a:ext>
            </a:extLst>
          </p:cNvPr>
          <p:cNvSpPr txBox="1"/>
          <p:nvPr/>
        </p:nvSpPr>
        <p:spPr>
          <a:xfrm>
            <a:off x="2633472" y="1819656"/>
            <a:ext cx="8229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 err="1">
                <a:solidFill>
                  <a:srgbClr val="0D3E61"/>
                </a:solidFill>
                <a:latin typeface="Arial"/>
              </a:rPr>
              <a:t>owner_id</a:t>
            </a:r>
            <a:endParaRPr sz="1000" b="1" dirty="0">
              <a:solidFill>
                <a:srgbClr val="0D3E61"/>
              </a:solidFill>
              <a:latin typeface="Arial"/>
            </a:endParaRPr>
          </a:p>
        </p:txBody>
      </p:sp>
      <p:cxnSp>
        <p:nvCxnSpPr>
          <p:cNvPr id="50" name="Connector 40">
            <a:extLst>
              <a:ext uri="{FF2B5EF4-FFF2-40B4-BE49-F238E27FC236}">
                <a16:creationId xmlns:a16="http://schemas.microsoft.com/office/drawing/2014/main" id="{A560C97F-2B84-4D3F-8823-8CF2BEC5416D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rot="5400000">
            <a:off x="4119372" y="2638044"/>
            <a:ext cx="621792" cy="1252728"/>
          </a:xfrm>
          <a:prstGeom prst="bentConnector3">
            <a:avLst>
              <a:gd name="adj1" fmla="val 50000"/>
            </a:avLst>
          </a:prstGeom>
          <a:ln w="22860">
            <a:solidFill>
              <a:srgbClr val="009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E2D539C-EC29-2C46-D4E2-198053F0EA9D}"/>
              </a:ext>
            </a:extLst>
          </p:cNvPr>
          <p:cNvSpPr txBox="1"/>
          <p:nvPr/>
        </p:nvSpPr>
        <p:spPr>
          <a:xfrm>
            <a:off x="3834078" y="3090672"/>
            <a:ext cx="8229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 err="1">
                <a:solidFill>
                  <a:srgbClr val="009AB8"/>
                </a:solidFill>
                <a:latin typeface="Arial"/>
              </a:rPr>
              <a:t>vehicle_id</a:t>
            </a:r>
            <a:endParaRPr sz="1000" b="1" dirty="0">
              <a:solidFill>
                <a:srgbClr val="009AB8"/>
              </a:solidFill>
              <a:latin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77B2C9-5C7F-7066-0AE4-B881B4F33476}"/>
              </a:ext>
            </a:extLst>
          </p:cNvPr>
          <p:cNvSpPr txBox="1"/>
          <p:nvPr/>
        </p:nvSpPr>
        <p:spPr>
          <a:xfrm>
            <a:off x="3849624" y="3310128"/>
            <a:ext cx="8229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 err="1">
                <a:solidFill>
                  <a:srgbClr val="009AB8"/>
                </a:solidFill>
                <a:latin typeface="Arial"/>
              </a:rPr>
              <a:t>device_id</a:t>
            </a:r>
            <a:endParaRPr sz="1000" b="1" dirty="0">
              <a:solidFill>
                <a:srgbClr val="009AB8"/>
              </a:solidFill>
              <a:latin typeface="Arial"/>
            </a:endParaRPr>
          </a:p>
        </p:txBody>
      </p:sp>
      <p:cxnSp>
        <p:nvCxnSpPr>
          <p:cNvPr id="55" name="Connector 40">
            <a:extLst>
              <a:ext uri="{FF2B5EF4-FFF2-40B4-BE49-F238E27FC236}">
                <a16:creationId xmlns:a16="http://schemas.microsoft.com/office/drawing/2014/main" id="{44EF5B00-C97A-1DF2-4299-542B0BF93FA4}"/>
              </a:ext>
            </a:extLst>
          </p:cNvPr>
          <p:cNvCxnSpPr>
            <a:cxnSpLocks/>
            <a:stCxn id="27" idx="2"/>
          </p:cNvCxnSpPr>
          <p:nvPr/>
        </p:nvCxnSpPr>
        <p:spPr>
          <a:xfrm rot="16200000" flipH="1">
            <a:off x="3116960" y="4047363"/>
            <a:ext cx="128018" cy="829818"/>
          </a:xfrm>
          <a:prstGeom prst="bentConnector2">
            <a:avLst/>
          </a:prstGeom>
          <a:ln w="22860">
            <a:solidFill>
              <a:srgbClr val="009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40">
            <a:extLst>
              <a:ext uri="{FF2B5EF4-FFF2-40B4-BE49-F238E27FC236}">
                <a16:creationId xmlns:a16="http://schemas.microsoft.com/office/drawing/2014/main" id="{861852CC-30FF-8A29-0AAE-0F2364013B19}"/>
              </a:ext>
            </a:extLst>
          </p:cNvPr>
          <p:cNvCxnSpPr>
            <a:cxnSpLocks/>
            <a:stCxn id="28" idx="2"/>
          </p:cNvCxnSpPr>
          <p:nvPr/>
        </p:nvCxnSpPr>
        <p:spPr>
          <a:xfrm rot="5400000">
            <a:off x="3914773" y="4079368"/>
            <a:ext cx="128020" cy="765810"/>
          </a:xfrm>
          <a:prstGeom prst="bentConnector2">
            <a:avLst/>
          </a:prstGeom>
          <a:ln w="22860">
            <a:solidFill>
              <a:srgbClr val="009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40">
            <a:extLst>
              <a:ext uri="{FF2B5EF4-FFF2-40B4-BE49-F238E27FC236}">
                <a16:creationId xmlns:a16="http://schemas.microsoft.com/office/drawing/2014/main" id="{76E096E4-1D7E-25DD-6145-02FEE95A1DED}"/>
              </a:ext>
            </a:extLst>
          </p:cNvPr>
          <p:cNvCxnSpPr>
            <a:cxnSpLocks/>
            <a:endCxn id="29" idx="3"/>
          </p:cNvCxnSpPr>
          <p:nvPr/>
        </p:nvCxnSpPr>
        <p:spPr>
          <a:xfrm rot="10800000" flipV="1">
            <a:off x="2766061" y="4544569"/>
            <a:ext cx="820673" cy="393192"/>
          </a:xfrm>
          <a:prstGeom prst="bentConnector3">
            <a:avLst>
              <a:gd name="adj1" fmla="val 975"/>
            </a:avLst>
          </a:prstGeom>
          <a:ln w="22860">
            <a:solidFill>
              <a:srgbClr val="009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4ECFD24-C3D1-B41D-67E0-B8B3E89C2768}"/>
              </a:ext>
            </a:extLst>
          </p:cNvPr>
          <p:cNvSpPr txBox="1"/>
          <p:nvPr/>
        </p:nvSpPr>
        <p:spPr>
          <a:xfrm>
            <a:off x="2734056" y="4631437"/>
            <a:ext cx="82296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uk-UA" sz="850" b="1" dirty="0">
                <a:solidFill>
                  <a:srgbClr val="009AB8"/>
                </a:solidFill>
                <a:latin typeface="Arial"/>
              </a:rPr>
              <a:t>перевірка порогів</a:t>
            </a:r>
            <a:endParaRPr sz="850" b="1" dirty="0">
              <a:solidFill>
                <a:srgbClr val="009AB8"/>
              </a:solidFill>
              <a:latin typeface="Arial"/>
            </a:endParaRPr>
          </a:p>
        </p:txBody>
      </p:sp>
      <p:cxnSp>
        <p:nvCxnSpPr>
          <p:cNvPr id="71" name="Connector 40">
            <a:extLst>
              <a:ext uri="{FF2B5EF4-FFF2-40B4-BE49-F238E27FC236}">
                <a16:creationId xmlns:a16="http://schemas.microsoft.com/office/drawing/2014/main" id="{FDE8142F-1F22-49BA-2C32-62B71173E923}"/>
              </a:ext>
            </a:extLst>
          </p:cNvPr>
          <p:cNvCxnSpPr>
            <a:cxnSpLocks/>
            <a:stCxn id="29" idx="2"/>
            <a:endCxn id="30" idx="2"/>
          </p:cNvCxnSpPr>
          <p:nvPr/>
        </p:nvCxnSpPr>
        <p:spPr>
          <a:xfrm rot="5400000" flipH="1" flipV="1">
            <a:off x="3502837" y="3944952"/>
            <a:ext cx="9143" cy="2250795"/>
          </a:xfrm>
          <a:prstGeom prst="bentConnector3">
            <a:avLst>
              <a:gd name="adj1" fmla="val -2500273"/>
            </a:avLst>
          </a:prstGeom>
          <a:ln w="22860">
            <a:solidFill>
              <a:srgbClr val="009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8BAC550-7792-8B13-59F7-FBB3CF7902EF}"/>
              </a:ext>
            </a:extLst>
          </p:cNvPr>
          <p:cNvSpPr txBox="1"/>
          <p:nvPr/>
        </p:nvSpPr>
        <p:spPr>
          <a:xfrm>
            <a:off x="3090672" y="5117077"/>
            <a:ext cx="822960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uk-UA" sz="850" b="1" dirty="0">
                <a:solidFill>
                  <a:srgbClr val="009AB8"/>
                </a:solidFill>
                <a:latin typeface="Arial"/>
              </a:rPr>
              <a:t>сповіщення</a:t>
            </a:r>
            <a:endParaRPr sz="850" b="1" dirty="0">
              <a:solidFill>
                <a:srgbClr val="009AB8"/>
              </a:solidFill>
              <a:latin typeface="Arial"/>
            </a:endParaRPr>
          </a:p>
        </p:txBody>
      </p:sp>
      <p:cxnSp>
        <p:nvCxnSpPr>
          <p:cNvPr id="76" name="Connector 49">
            <a:extLst>
              <a:ext uri="{FF2B5EF4-FFF2-40B4-BE49-F238E27FC236}">
                <a16:creationId xmlns:a16="http://schemas.microsoft.com/office/drawing/2014/main" id="{B791F8E6-AE92-0544-ABDE-8CACBDD19F4F}"/>
              </a:ext>
            </a:extLst>
          </p:cNvPr>
          <p:cNvCxnSpPr>
            <a:cxnSpLocks/>
            <a:stCxn id="23" idx="3"/>
            <a:endCxn id="31" idx="1"/>
          </p:cNvCxnSpPr>
          <p:nvPr/>
        </p:nvCxnSpPr>
        <p:spPr>
          <a:xfrm flipV="1">
            <a:off x="5769864" y="4142232"/>
            <a:ext cx="1344168" cy="365760"/>
          </a:xfrm>
          <a:prstGeom prst="bentConnector3">
            <a:avLst>
              <a:gd name="adj1" fmla="val 50000"/>
            </a:avLst>
          </a:prstGeom>
          <a:ln w="22860">
            <a:solidFill>
              <a:srgbClr val="F27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0FE942F-7DE3-574E-5399-A90DE2A05385}"/>
              </a:ext>
            </a:extLst>
          </p:cNvPr>
          <p:cNvSpPr txBox="1"/>
          <p:nvPr/>
        </p:nvSpPr>
        <p:spPr>
          <a:xfrm>
            <a:off x="5769864" y="3845719"/>
            <a:ext cx="13373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000" b="1" dirty="0">
                <a:solidFill>
                  <a:srgbClr val="F27A26"/>
                </a:solidFill>
                <a:latin typeface="Arial"/>
              </a:rPr>
              <a:t>сервісна дія</a:t>
            </a:r>
          </a:p>
        </p:txBody>
      </p:sp>
      <p:cxnSp>
        <p:nvCxnSpPr>
          <p:cNvPr id="83" name="Connector 49">
            <a:extLst>
              <a:ext uri="{FF2B5EF4-FFF2-40B4-BE49-F238E27FC236}">
                <a16:creationId xmlns:a16="http://schemas.microsoft.com/office/drawing/2014/main" id="{589AF153-55AB-774E-CD7B-D2792E5F632E}"/>
              </a:ext>
            </a:extLst>
          </p:cNvPr>
          <p:cNvCxnSpPr>
            <a:cxnSpLocks/>
            <a:stCxn id="36" idx="1"/>
            <a:endCxn id="35" idx="2"/>
          </p:cNvCxnSpPr>
          <p:nvPr/>
        </p:nvCxnSpPr>
        <p:spPr>
          <a:xfrm rot="10800000">
            <a:off x="8001000" y="4187952"/>
            <a:ext cx="1527048" cy="274320"/>
          </a:xfrm>
          <a:prstGeom prst="bentConnector2">
            <a:avLst/>
          </a:prstGeom>
          <a:ln w="22860">
            <a:solidFill>
              <a:srgbClr val="F27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B16BC69-47A0-0D3D-08D0-8172FE75F517}"/>
              </a:ext>
            </a:extLst>
          </p:cNvPr>
          <p:cNvSpPr txBox="1"/>
          <p:nvPr/>
        </p:nvSpPr>
        <p:spPr>
          <a:xfrm>
            <a:off x="7631811" y="4526281"/>
            <a:ext cx="18928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900" b="1" dirty="0">
                <a:solidFill>
                  <a:srgbClr val="F27A26"/>
                </a:solidFill>
                <a:latin typeface="Arial"/>
              </a:rPr>
              <a:t>результат обслуговування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7680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50" b="1">
                <a:solidFill>
                  <a:srgbClr val="232D3A"/>
                </a:solidFill>
                <a:latin typeface="Arial"/>
              </a:rPr>
              <a:t>Обробка телеметрії та життєвий цикл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32104"/>
            <a:ext cx="8412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0" b="0">
                <a:solidFill>
                  <a:srgbClr val="5C6776"/>
                </a:solidFill>
                <a:latin typeface="Arial"/>
              </a:rPr>
              <a:t>Приклад реалізації: система не дублює active alert і використовує механізм гістерезису стану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969264" cy="36576"/>
          </a:xfrm>
          <a:prstGeom prst="rect">
            <a:avLst/>
          </a:prstGeom>
          <a:solidFill>
            <a:srgbClr val="F5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417320"/>
            <a:ext cx="420624" cy="420624"/>
          </a:xfrm>
          <a:prstGeom prst="ellipse">
            <a:avLst/>
          </a:prstGeom>
          <a:solidFill>
            <a:srgbClr val="00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1536192"/>
            <a:ext cx="42062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43560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0" b="1">
                <a:solidFill>
                  <a:srgbClr val="232D3A"/>
                </a:solidFill>
                <a:latin typeface="Arial"/>
              </a:rPr>
              <a:t>device_uid з MQTT-теми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728216"/>
            <a:ext cx="373075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C6776"/>
                </a:solidFill>
                <a:latin typeface="Arial"/>
              </a:rPr>
              <a:t>autonexis/devices/{device_uid}/telemetry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2176272"/>
            <a:ext cx="420624" cy="420624"/>
          </a:xfrm>
          <a:prstGeom prst="ellipse">
            <a:avLst/>
          </a:prstGeom>
          <a:solidFill>
            <a:srgbClr val="00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" y="2295144"/>
            <a:ext cx="42062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194560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0" b="1">
                <a:solidFill>
                  <a:srgbClr val="232D3A"/>
                </a:solidFill>
                <a:latin typeface="Arial"/>
              </a:rPr>
              <a:t>валідація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487168"/>
            <a:ext cx="373075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C6776"/>
                </a:solidFill>
                <a:latin typeface="Arial"/>
              </a:rPr>
              <a:t>JSON, типи даних, обов’язкові поля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2944368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" y="3063240"/>
            <a:ext cx="42062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96265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0" b="1">
                <a:solidFill>
                  <a:srgbClr val="232D3A"/>
                </a:solidFill>
                <a:latin typeface="Arial"/>
              </a:rPr>
              <a:t>збереження telemetry_records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255264"/>
            <a:ext cx="373075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C6776"/>
                </a:solidFill>
                <a:latin typeface="Arial"/>
              </a:rPr>
              <a:t>кожне вимірювання фіксується в історії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" y="3703320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3822191"/>
            <a:ext cx="42062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3721607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0" b="1">
                <a:solidFill>
                  <a:srgbClr val="232D3A"/>
                </a:solidFill>
                <a:latin typeface="Arial"/>
              </a:rPr>
              <a:t>порогова перевірка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014215"/>
            <a:ext cx="373075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C6776"/>
                </a:solidFill>
                <a:latin typeface="Arial"/>
              </a:rPr>
              <a:t>визначення рівня: normal / warning / critical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" y="4462272"/>
            <a:ext cx="420624" cy="420624"/>
          </a:xfrm>
          <a:prstGeom prst="ellipse">
            <a:avLst/>
          </a:prstGeom>
          <a:solidFill>
            <a:srgbClr val="0A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6" y="4581144"/>
            <a:ext cx="42062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4480559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0" b="1">
                <a:solidFill>
                  <a:srgbClr val="232D3A"/>
                </a:solidFill>
                <a:latin typeface="Arial"/>
              </a:rPr>
              <a:t>механізм гістерезису стану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773168"/>
            <a:ext cx="373075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C6776"/>
                </a:solidFill>
                <a:latin typeface="Arial"/>
              </a:rPr>
              <a:t>перехід у normal лише після кількох підтверджувальних вимірювань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47488" y="1152144"/>
            <a:ext cx="6355080" cy="3794760"/>
          </a:xfrm>
          <a:prstGeom prst="roundRect">
            <a:avLst/>
          </a:prstGeom>
          <a:solidFill>
            <a:srgbClr val="FAFCFD"/>
          </a:solidFill>
          <a:ln w="13970">
            <a:solidFill>
              <a:srgbClr val="D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170676" y="1362456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 err="1">
                <a:solidFill>
                  <a:srgbClr val="232D3A"/>
                </a:solidFill>
                <a:latin typeface="Arial"/>
              </a:rPr>
              <a:t>Логіка</a:t>
            </a:r>
            <a:r>
              <a:rPr sz="15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232D3A"/>
                </a:solidFill>
                <a:latin typeface="Arial"/>
              </a:rPr>
              <a:t>створення</a:t>
            </a:r>
            <a:r>
              <a:rPr sz="1500" b="1" dirty="0">
                <a:solidFill>
                  <a:srgbClr val="232D3A"/>
                </a:solidFill>
                <a:latin typeface="Arial"/>
              </a:rPr>
              <a:t> / </a:t>
            </a:r>
            <a:r>
              <a:rPr sz="1500" b="1" dirty="0" err="1">
                <a:solidFill>
                  <a:srgbClr val="232D3A"/>
                </a:solidFill>
                <a:latin typeface="Arial"/>
              </a:rPr>
              <a:t>оновлення</a:t>
            </a:r>
            <a:r>
              <a:rPr sz="15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232D3A"/>
                </a:solidFill>
                <a:latin typeface="Arial"/>
              </a:rPr>
              <a:t>попередження</a:t>
            </a:r>
            <a:endParaRPr sz="1500" b="1" dirty="0">
              <a:solidFill>
                <a:srgbClr val="232D3A"/>
              </a:solidFill>
              <a:latin typeface="Arial"/>
            </a:endParaRPr>
          </a:p>
        </p:txBody>
      </p:sp>
      <p:grpSp>
        <p:nvGrpSpPr>
          <p:cNvPr id="55" name="Групувати 54">
            <a:extLst>
              <a:ext uri="{FF2B5EF4-FFF2-40B4-BE49-F238E27FC236}">
                <a16:creationId xmlns:a16="http://schemas.microsoft.com/office/drawing/2014/main" id="{D17083B4-2679-E646-ADB1-A875B5EFFED6}"/>
              </a:ext>
            </a:extLst>
          </p:cNvPr>
          <p:cNvGrpSpPr/>
          <p:nvPr/>
        </p:nvGrpSpPr>
        <p:grpSpPr>
          <a:xfrm>
            <a:off x="5742432" y="1796795"/>
            <a:ext cx="4535424" cy="658368"/>
            <a:chOff x="5742432" y="2240280"/>
            <a:chExt cx="4535424" cy="658368"/>
          </a:xfrm>
        </p:grpSpPr>
        <p:grpSp>
          <p:nvGrpSpPr>
            <p:cNvPr id="54" name="Групувати 53">
              <a:extLst>
                <a:ext uri="{FF2B5EF4-FFF2-40B4-BE49-F238E27FC236}">
                  <a16:creationId xmlns:a16="http://schemas.microsoft.com/office/drawing/2014/main" id="{9A809FDD-AE80-E0AF-B798-C0B55612BBBE}"/>
                </a:ext>
              </a:extLst>
            </p:cNvPr>
            <p:cNvGrpSpPr/>
            <p:nvPr/>
          </p:nvGrpSpPr>
          <p:grpSpPr>
            <a:xfrm>
              <a:off x="5742432" y="2240280"/>
              <a:ext cx="2852927" cy="658368"/>
              <a:chOff x="5742432" y="2240280"/>
              <a:chExt cx="2852927" cy="658368"/>
            </a:xfrm>
          </p:grpSpPr>
          <p:grpSp>
            <p:nvGrpSpPr>
              <p:cNvPr id="53" name="Групувати 52">
                <a:extLst>
                  <a:ext uri="{FF2B5EF4-FFF2-40B4-BE49-F238E27FC236}">
                    <a16:creationId xmlns:a16="http://schemas.microsoft.com/office/drawing/2014/main" id="{9304CB80-9902-D32A-C345-DCC2245E76D8}"/>
                  </a:ext>
                </a:extLst>
              </p:cNvPr>
              <p:cNvGrpSpPr/>
              <p:nvPr/>
            </p:nvGrpSpPr>
            <p:grpSpPr>
              <a:xfrm>
                <a:off x="5742432" y="2240280"/>
                <a:ext cx="1170432" cy="658368"/>
                <a:chOff x="5742432" y="2240280"/>
                <a:chExt cx="1170432" cy="658368"/>
              </a:xfrm>
            </p:grpSpPr>
            <p:sp>
              <p:nvSpPr>
                <p:cNvPr id="28" name="Rounded Rectangle 27"/>
                <p:cNvSpPr/>
                <p:nvPr/>
              </p:nvSpPr>
              <p:spPr>
                <a:xfrm>
                  <a:off x="5742432" y="2240280"/>
                  <a:ext cx="1170432" cy="658368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D1DAE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5815584" y="2359152"/>
                  <a:ext cx="1024128" cy="1828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sz="1200" b="1" dirty="0">
                      <a:solidFill>
                        <a:srgbClr val="2D8741"/>
                      </a:solidFill>
                      <a:latin typeface="Arial"/>
                    </a:rPr>
                    <a:t>normal</a:t>
                  </a: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5852158" y="2560320"/>
                  <a:ext cx="950976" cy="3200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sz="1000" b="0" dirty="0" err="1">
                      <a:solidFill>
                        <a:srgbClr val="5C6776"/>
                      </a:solidFill>
                      <a:latin typeface="Arial"/>
                    </a:rPr>
                    <a:t>немає</a:t>
                  </a:r>
                  <a:r>
                    <a:rPr sz="1000" b="0" dirty="0">
                      <a:solidFill>
                        <a:srgbClr val="5C6776"/>
                      </a:solidFill>
                      <a:latin typeface="Arial"/>
                    </a:rPr>
                    <a:t>
</a:t>
                  </a:r>
                  <a:r>
                    <a:rPr sz="1000" b="0" dirty="0" err="1">
                      <a:solidFill>
                        <a:srgbClr val="5C6776"/>
                      </a:solidFill>
                      <a:latin typeface="Arial"/>
                    </a:rPr>
                    <a:t>відхилень</a:t>
                  </a:r>
                  <a:endParaRPr sz="1000" b="0" dirty="0">
                    <a:solidFill>
                      <a:srgbClr val="5C6776"/>
                    </a:solidFill>
                    <a:latin typeface="Arial"/>
                  </a:endParaRPr>
                </a:p>
              </p:txBody>
            </p:sp>
          </p:grpSp>
          <p:sp>
            <p:nvSpPr>
              <p:cNvPr id="31" name="Rounded Rectangle 30"/>
              <p:cNvSpPr/>
              <p:nvPr/>
            </p:nvSpPr>
            <p:spPr>
              <a:xfrm>
                <a:off x="7424927" y="2240280"/>
                <a:ext cx="1170432" cy="658368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1DA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7498079" y="2359152"/>
                <a:ext cx="1024128" cy="18288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1200" b="1" dirty="0">
                    <a:solidFill>
                      <a:srgbClr val="F57526"/>
                    </a:solidFill>
                    <a:latin typeface="Arial"/>
                  </a:rPr>
                  <a:t>warning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7534655" y="2569464"/>
                <a:ext cx="950976" cy="32004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1000" b="0" dirty="0" err="1">
                    <a:solidFill>
                      <a:srgbClr val="5C6776"/>
                    </a:solidFill>
                    <a:latin typeface="Arial"/>
                  </a:rPr>
                  <a:t>потребує</a:t>
                </a:r>
                <a:r>
                  <a:rPr sz="1000" b="0" dirty="0">
                    <a:solidFill>
                      <a:srgbClr val="5C6776"/>
                    </a:solidFill>
                    <a:latin typeface="Arial"/>
                  </a:rPr>
                  <a:t>
</a:t>
                </a:r>
                <a:r>
                  <a:rPr sz="1000" b="0" dirty="0" err="1">
                    <a:solidFill>
                      <a:srgbClr val="5C6776"/>
                    </a:solidFill>
                    <a:latin typeface="Arial"/>
                  </a:rPr>
                  <a:t>уваги</a:t>
                </a:r>
                <a:endParaRPr sz="1000" b="0" dirty="0">
                  <a:solidFill>
                    <a:srgbClr val="5C6776"/>
                  </a:solidFill>
                  <a:latin typeface="Arial"/>
                </a:endParaRPr>
              </a:p>
            </p:txBody>
          </p:sp>
        </p:grpSp>
        <p:sp>
          <p:nvSpPr>
            <p:cNvPr id="34" name="Rounded Rectangle 33"/>
            <p:cNvSpPr/>
            <p:nvPr/>
          </p:nvSpPr>
          <p:spPr>
            <a:xfrm>
              <a:off x="9107424" y="2240280"/>
              <a:ext cx="1170432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1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180576" y="2359152"/>
              <a:ext cx="1024128" cy="1828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CD372D"/>
                  </a:solidFill>
                  <a:latin typeface="Arial"/>
                </a:rPr>
                <a:t>critical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217152" y="2569464"/>
              <a:ext cx="950976" cy="3200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00" b="0" dirty="0" err="1">
                  <a:solidFill>
                    <a:srgbClr val="5C6776"/>
                  </a:solidFill>
                  <a:latin typeface="Arial"/>
                </a:rPr>
                <a:t>критичний</a:t>
              </a:r>
              <a:r>
                <a:rPr sz="1000" b="0" dirty="0">
                  <a:solidFill>
                    <a:srgbClr val="5C6776"/>
                  </a:solidFill>
                  <a:latin typeface="Arial"/>
                </a:rPr>
                <a:t>
</a:t>
              </a:r>
              <a:r>
                <a:rPr sz="1000" b="0" dirty="0" err="1">
                  <a:solidFill>
                    <a:srgbClr val="5C6776"/>
                  </a:solidFill>
                  <a:latin typeface="Arial"/>
                </a:rPr>
                <a:t>стан</a:t>
              </a:r>
              <a:endParaRPr sz="1000" b="0" dirty="0">
                <a:solidFill>
                  <a:srgbClr val="5C6776"/>
                </a:solidFill>
                <a:latin typeface="Arial"/>
              </a:endParaRPr>
            </a:p>
          </p:txBody>
        </p:sp>
      </p:grpSp>
      <p:cxnSp>
        <p:nvCxnSpPr>
          <p:cNvPr id="37" name="Connector 36"/>
          <p:cNvCxnSpPr/>
          <p:nvPr/>
        </p:nvCxnSpPr>
        <p:spPr>
          <a:xfrm>
            <a:off x="6912864" y="2112264"/>
            <a:ext cx="512063" cy="0"/>
          </a:xfrm>
          <a:prstGeom prst="line">
            <a:avLst/>
          </a:prstGeom>
          <a:ln w="25400">
            <a:solidFill>
              <a:srgbClr val="A6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95359" y="2121408"/>
            <a:ext cx="512064" cy="0"/>
          </a:xfrm>
          <a:prstGeom prst="line">
            <a:avLst/>
          </a:prstGeom>
          <a:ln w="25400">
            <a:solidFill>
              <a:srgbClr val="A6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Групувати 55">
            <a:extLst>
              <a:ext uri="{FF2B5EF4-FFF2-40B4-BE49-F238E27FC236}">
                <a16:creationId xmlns:a16="http://schemas.microsoft.com/office/drawing/2014/main" id="{7EABFEAF-F7A2-00C9-20E1-7BAF1512530F}"/>
              </a:ext>
            </a:extLst>
          </p:cNvPr>
          <p:cNvGrpSpPr/>
          <p:nvPr/>
        </p:nvGrpSpPr>
        <p:grpSpPr>
          <a:xfrm>
            <a:off x="5664708" y="2852928"/>
            <a:ext cx="2240280" cy="694944"/>
            <a:chOff x="5669280" y="3319272"/>
            <a:chExt cx="2240280" cy="694944"/>
          </a:xfrm>
        </p:grpSpPr>
        <p:sp>
          <p:nvSpPr>
            <p:cNvPr id="39" name="Rounded Rectangle 38"/>
            <p:cNvSpPr/>
            <p:nvPr/>
          </p:nvSpPr>
          <p:spPr>
            <a:xfrm>
              <a:off x="5669280" y="3319272"/>
              <a:ext cx="2240280" cy="6949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1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742432" y="3438144"/>
              <a:ext cx="2093976" cy="1828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20" b="1" dirty="0" err="1">
                  <a:solidFill>
                    <a:srgbClr val="232D3A"/>
                  </a:solidFill>
                  <a:latin typeface="Arial"/>
                </a:rPr>
                <a:t>Немає</a:t>
              </a:r>
              <a:r>
                <a:rPr sz="1120" b="1" dirty="0">
                  <a:solidFill>
                    <a:srgbClr val="232D3A"/>
                  </a:solidFill>
                  <a:latin typeface="Arial"/>
                </a:rPr>
                <a:t> active alert?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779008" y="3712463"/>
              <a:ext cx="2020824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 dirty="0" err="1">
                  <a:solidFill>
                    <a:srgbClr val="5C6776"/>
                  </a:solidFill>
                  <a:latin typeface="Arial"/>
                </a:rPr>
                <a:t>створити</a:t>
              </a:r>
              <a:r>
                <a:rPr sz="1050" b="0" dirty="0">
                  <a:solidFill>
                    <a:srgbClr val="5C6776"/>
                  </a:solidFill>
                  <a:latin typeface="Arial"/>
                </a:rPr>
                <a:t> alert і notification</a:t>
              </a:r>
            </a:p>
          </p:txBody>
        </p:sp>
      </p:grpSp>
      <p:grpSp>
        <p:nvGrpSpPr>
          <p:cNvPr id="58" name="Групувати 57">
            <a:extLst>
              <a:ext uri="{FF2B5EF4-FFF2-40B4-BE49-F238E27FC236}">
                <a16:creationId xmlns:a16="http://schemas.microsoft.com/office/drawing/2014/main" id="{07E2BE23-8F4D-34AF-27CE-3D2B29F325BA}"/>
              </a:ext>
            </a:extLst>
          </p:cNvPr>
          <p:cNvGrpSpPr/>
          <p:nvPr/>
        </p:nvGrpSpPr>
        <p:grpSpPr>
          <a:xfrm>
            <a:off x="8225028" y="2862073"/>
            <a:ext cx="2240280" cy="694944"/>
            <a:chOff x="8229600" y="3319272"/>
            <a:chExt cx="2240280" cy="694944"/>
          </a:xfrm>
        </p:grpSpPr>
        <p:sp>
          <p:nvSpPr>
            <p:cNvPr id="42" name="Rounded Rectangle 41"/>
            <p:cNvSpPr/>
            <p:nvPr/>
          </p:nvSpPr>
          <p:spPr>
            <a:xfrm>
              <a:off x="8229600" y="3319272"/>
              <a:ext cx="2240280" cy="6949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1DA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302752" y="3438144"/>
              <a:ext cx="2093976" cy="1828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80" b="1">
                  <a:solidFill>
                    <a:srgbClr val="232D3A"/>
                  </a:solidFill>
                  <a:latin typeface="Arial"/>
                </a:rPr>
                <a:t>Active alert вже існує?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339327" y="3639311"/>
              <a:ext cx="2020824" cy="3200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 dirty="0" err="1">
                  <a:solidFill>
                    <a:srgbClr val="5C6776"/>
                  </a:solidFill>
                  <a:latin typeface="Arial"/>
                </a:rPr>
                <a:t>оновити</a:t>
              </a:r>
              <a:r>
                <a:rPr sz="1050" b="0" dirty="0">
                  <a:solidFill>
                    <a:srgbClr val="5C6776"/>
                  </a:solidFill>
                  <a:latin typeface="Arial"/>
                </a:rPr>
                <a:t> / </a:t>
              </a:r>
              <a:r>
                <a:rPr sz="1050" b="0" dirty="0" err="1">
                  <a:solidFill>
                    <a:srgbClr val="5C6776"/>
                  </a:solidFill>
                  <a:latin typeface="Arial"/>
                </a:rPr>
                <a:t>підтвердити</a:t>
              </a:r>
              <a:r>
                <a:rPr sz="1050" b="0" dirty="0">
                  <a:solidFill>
                    <a:srgbClr val="5C6776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C6776"/>
                  </a:solidFill>
                  <a:latin typeface="Arial"/>
                </a:rPr>
                <a:t>без</a:t>
              </a:r>
              <a:r>
                <a:rPr sz="1050" b="0" dirty="0">
                  <a:solidFill>
                    <a:srgbClr val="5C6776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C6776"/>
                  </a:solidFill>
                  <a:latin typeface="Arial"/>
                </a:rPr>
                <a:t>дублювання</a:t>
              </a:r>
              <a:endParaRPr sz="1050" b="0" dirty="0">
                <a:solidFill>
                  <a:srgbClr val="5C6776"/>
                </a:solidFill>
                <a:latin typeface="Arial"/>
              </a:endParaRPr>
            </a:p>
          </p:txBody>
        </p:sp>
      </p:grpSp>
      <p:cxnSp>
        <p:nvCxnSpPr>
          <p:cNvPr id="45" name="Connector 44"/>
          <p:cNvCxnSpPr/>
          <p:nvPr/>
        </p:nvCxnSpPr>
        <p:spPr>
          <a:xfrm>
            <a:off x="7904988" y="3255264"/>
            <a:ext cx="320040" cy="0"/>
          </a:xfrm>
          <a:prstGeom prst="line">
            <a:avLst/>
          </a:prstGeom>
          <a:ln w="25400">
            <a:solidFill>
              <a:srgbClr val="A6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Групувати 58">
            <a:extLst>
              <a:ext uri="{FF2B5EF4-FFF2-40B4-BE49-F238E27FC236}">
                <a16:creationId xmlns:a16="http://schemas.microsoft.com/office/drawing/2014/main" id="{7C7F153C-82A0-0DC7-3546-C41DF325D6B6}"/>
              </a:ext>
            </a:extLst>
          </p:cNvPr>
          <p:cNvGrpSpPr/>
          <p:nvPr/>
        </p:nvGrpSpPr>
        <p:grpSpPr>
          <a:xfrm>
            <a:off x="5952744" y="3950208"/>
            <a:ext cx="4370832" cy="768096"/>
            <a:chOff x="5870448" y="4370832"/>
            <a:chExt cx="4370832" cy="768096"/>
          </a:xfrm>
        </p:grpSpPr>
        <p:sp>
          <p:nvSpPr>
            <p:cNvPr id="46" name="Rounded Rectangle 45"/>
            <p:cNvSpPr/>
            <p:nvPr/>
          </p:nvSpPr>
          <p:spPr>
            <a:xfrm>
              <a:off x="5870448" y="4370832"/>
              <a:ext cx="4370832" cy="768096"/>
            </a:xfrm>
            <a:prstGeom prst="roundRect">
              <a:avLst/>
            </a:prstGeom>
            <a:solidFill>
              <a:srgbClr val="FFEFE6"/>
            </a:solidFill>
            <a:ln w="13970">
              <a:solidFill>
                <a:srgbClr val="F575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108192" y="4471416"/>
              <a:ext cx="3931920" cy="21945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220" b="1" dirty="0" err="1">
                  <a:solidFill>
                    <a:srgbClr val="F57526"/>
                  </a:solidFill>
                  <a:latin typeface="Arial"/>
                </a:rPr>
                <a:t>Механізм</a:t>
              </a:r>
              <a:r>
                <a:rPr sz="1220" b="1" dirty="0">
                  <a:solidFill>
                    <a:srgbClr val="F57526"/>
                  </a:solidFill>
                  <a:latin typeface="Arial"/>
                </a:rPr>
                <a:t> </a:t>
              </a:r>
              <a:r>
                <a:rPr sz="1220" b="1" dirty="0" err="1">
                  <a:solidFill>
                    <a:srgbClr val="F57526"/>
                  </a:solidFill>
                  <a:latin typeface="Arial"/>
                </a:rPr>
                <a:t>гістерезису</a:t>
              </a:r>
              <a:r>
                <a:rPr sz="1220" b="1" dirty="0">
                  <a:solidFill>
                    <a:srgbClr val="F57526"/>
                  </a:solidFill>
                  <a:latin typeface="Arial"/>
                </a:rPr>
                <a:t> </a:t>
              </a:r>
              <a:r>
                <a:rPr sz="1220" b="1" dirty="0" err="1">
                  <a:solidFill>
                    <a:srgbClr val="F57526"/>
                  </a:solidFill>
                  <a:latin typeface="Arial"/>
                </a:rPr>
                <a:t>стану</a:t>
              </a:r>
              <a:endParaRPr sz="1220" b="1" dirty="0">
                <a:solidFill>
                  <a:srgbClr val="F57526"/>
                </a:solidFill>
                <a:latin typeface="Arial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08192" y="4709160"/>
              <a:ext cx="3931920" cy="3077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00" b="0" dirty="0">
                  <a:solidFill>
                    <a:srgbClr val="232D3A"/>
                  </a:solidFill>
                  <a:latin typeface="Arial"/>
                </a:rPr>
                <a:t>1 normal-</a:t>
              </a:r>
              <a:r>
                <a:rPr sz="1000" b="0" dirty="0" err="1">
                  <a:solidFill>
                    <a:srgbClr val="232D3A"/>
                  </a:solidFill>
                  <a:latin typeface="Arial"/>
                </a:rPr>
                <a:t>запис</a:t>
              </a:r>
              <a:r>
                <a:rPr sz="1000" b="0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232D3A"/>
                  </a:solidFill>
                  <a:latin typeface="Arial"/>
                </a:rPr>
                <a:t>не</a:t>
              </a:r>
              <a:r>
                <a:rPr sz="1000" b="0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232D3A"/>
                  </a:solidFill>
                  <a:latin typeface="Arial"/>
                </a:rPr>
                <a:t>закриває</a:t>
              </a:r>
              <a:r>
                <a:rPr sz="1000" b="0" dirty="0">
                  <a:solidFill>
                    <a:srgbClr val="232D3A"/>
                  </a:solidFill>
                  <a:latin typeface="Arial"/>
                </a:rPr>
                <a:t> alert; </a:t>
              </a:r>
              <a:r>
                <a:rPr sz="1000" b="0" dirty="0" err="1">
                  <a:solidFill>
                    <a:srgbClr val="232D3A"/>
                  </a:solidFill>
                  <a:latin typeface="Arial"/>
                </a:rPr>
                <a:t>потрібні</a:t>
              </a:r>
              <a:r>
                <a:rPr sz="1000" b="0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232D3A"/>
                  </a:solidFill>
                  <a:latin typeface="Arial"/>
                </a:rPr>
                <a:t>кілька</a:t>
              </a:r>
              <a:r>
                <a:rPr sz="1000" b="0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232D3A"/>
                  </a:solidFill>
                  <a:latin typeface="Arial"/>
                </a:rPr>
                <a:t>послідовних</a:t>
              </a:r>
              <a:r>
                <a:rPr sz="1000" b="0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232D3A"/>
                  </a:solidFill>
                  <a:latin typeface="Arial"/>
                </a:rPr>
                <a:t>нормальних</a:t>
              </a:r>
              <a:r>
                <a:rPr sz="1000" b="0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232D3A"/>
                  </a:solidFill>
                  <a:latin typeface="Arial"/>
                </a:rPr>
                <a:t>вимірювань</a:t>
              </a:r>
              <a:endParaRPr sz="1000" b="0" dirty="0">
                <a:solidFill>
                  <a:srgbClr val="232D3A"/>
                </a:solidFill>
                <a:latin typeface="Arial"/>
              </a:endParaRPr>
            </a:p>
          </p:txBody>
        </p:sp>
      </p:grpSp>
      <p:sp>
        <p:nvSpPr>
          <p:cNvPr id="49" name="Rounded Rectangle 48"/>
          <p:cNvSpPr/>
          <p:nvPr/>
        </p:nvSpPr>
        <p:spPr>
          <a:xfrm>
            <a:off x="764895" y="5221224"/>
            <a:ext cx="10661904" cy="530352"/>
          </a:xfrm>
          <a:prstGeom prst="roundRect">
            <a:avLst/>
          </a:prstGeom>
          <a:solidFill>
            <a:srgbClr val="FFEFE6"/>
          </a:solidFill>
          <a:ln w="12700">
            <a:solidFill>
              <a:srgbClr val="F57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996696" y="5321808"/>
            <a:ext cx="10149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0" b="0" dirty="0" err="1">
                <a:solidFill>
                  <a:srgbClr val="232D3A"/>
                </a:solidFill>
                <a:latin typeface="Arial"/>
              </a:rPr>
              <a:t>Результат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: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кожне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вимірювання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зберігається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,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дублікати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active alert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не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створюються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, а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повернення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до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normal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відбувається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лише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після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підтвердження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стабільного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стану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.</a:t>
            </a:r>
          </a:p>
        </p:txBody>
      </p:sp>
      <p:pic>
        <p:nvPicPr>
          <p:cNvPr id="51" name="Picture 3" descr="se_logo_cropped.png">
            <a:extLst>
              <a:ext uri="{FF2B5EF4-FFF2-40B4-BE49-F238E27FC236}">
                <a16:creationId xmlns:a16="http://schemas.microsoft.com/office/drawing/2014/main" id="{D380AF08-BC41-CEB2-7844-083878908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52" name="Oval 4">
            <a:extLst>
              <a:ext uri="{FF2B5EF4-FFF2-40B4-BE49-F238E27FC236}">
                <a16:creationId xmlns:a16="http://schemas.microsoft.com/office/drawing/2014/main" id="{0215DF2D-1B87-25FD-AC60-613C40FF5C5F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8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3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>
                <a:solidFill>
                  <a:srgbClr val="232D3A"/>
                </a:solidFill>
                <a:latin typeface="Arial"/>
              </a:rPr>
              <a:t>Реалізація вебзастосунку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6126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 err="1">
                <a:solidFill>
                  <a:srgbClr val="5C6879"/>
                </a:solidFill>
                <a:latin typeface="Arial"/>
              </a:rPr>
              <a:t>Вебінтерфейс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для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адміністратора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та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технічного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спеціаліста</a:t>
            </a:r>
            <a:endParaRPr sz="1200" b="0" dirty="0">
              <a:solidFill>
                <a:srgbClr val="5C687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048" y="1024128"/>
            <a:ext cx="950976" cy="32004"/>
          </a:xfrm>
          <a:prstGeom prst="rect">
            <a:avLst/>
          </a:prstGeom>
          <a:solidFill>
            <a:srgbClr val="F67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288036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29337"/>
            <a:ext cx="73152" cy="4343400"/>
          </a:xfrm>
          <a:prstGeom prst="rect">
            <a:avLst/>
          </a:prstGeom>
          <a:solidFill>
            <a:srgbClr val="00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13816" y="16276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 err="1">
                <a:solidFill>
                  <a:srgbClr val="232D3A"/>
                </a:solidFill>
                <a:latin typeface="Arial"/>
              </a:rPr>
              <a:t>Основні</a:t>
            </a:r>
            <a:r>
              <a:rPr sz="16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2D3A"/>
                </a:solidFill>
                <a:latin typeface="Arial"/>
              </a:rPr>
              <a:t>сценарії</a:t>
            </a:r>
            <a:endParaRPr sz="16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4366" y="203911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1" dirty="0" err="1">
                <a:solidFill>
                  <a:srgbClr val="0D3E61"/>
                </a:solidFill>
                <a:latin typeface="Arial"/>
              </a:rPr>
              <a:t>Адміністратор</a:t>
            </a:r>
            <a:endParaRPr sz="1260" b="1" dirty="0">
              <a:solidFill>
                <a:srgbClr val="0D3E61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313432"/>
            <a:ext cx="224028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10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користувачі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авто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та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IoT-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пристрої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
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спеціалісти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компетенції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й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призначення</a:t>
            </a:r>
            <a:endParaRPr sz="1100" b="0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9794" y="308152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1" dirty="0" err="1">
                <a:solidFill>
                  <a:srgbClr val="00A6C7"/>
                </a:solidFill>
                <a:latin typeface="Arial"/>
              </a:rPr>
              <a:t>Технічний</a:t>
            </a:r>
            <a:r>
              <a:rPr sz="1260" b="1" dirty="0">
                <a:solidFill>
                  <a:srgbClr val="00A6C7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00A6C7"/>
                </a:solidFill>
                <a:latin typeface="Arial"/>
              </a:rPr>
              <a:t>спеціаліст</a:t>
            </a:r>
            <a:endParaRPr sz="1260" b="1" dirty="0">
              <a:solidFill>
                <a:srgbClr val="00A6C7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3355848"/>
            <a:ext cx="1929384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10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призначені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автомобілі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
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графіки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телеметрії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та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alerts
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сервісні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заявки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та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232D3A"/>
                </a:solidFill>
                <a:latin typeface="Arial"/>
              </a:rPr>
              <a:t>обслуговування</a:t>
            </a:r>
            <a:endParaRPr sz="1100" b="0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6" y="433425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1" dirty="0" err="1">
                <a:solidFill>
                  <a:srgbClr val="F67625"/>
                </a:solidFill>
                <a:latin typeface="Arial"/>
              </a:rPr>
              <a:t>Надійність</a:t>
            </a:r>
            <a:r>
              <a:rPr sz="1260" b="1" dirty="0">
                <a:solidFill>
                  <a:srgbClr val="F67625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F67625"/>
                </a:solidFill>
                <a:latin typeface="Arial"/>
              </a:rPr>
              <a:t>дій</a:t>
            </a:r>
            <a:endParaRPr sz="1260" b="1" dirty="0">
              <a:solidFill>
                <a:srgbClr val="F67625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4608576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 dirty="0" err="1">
                <a:solidFill>
                  <a:srgbClr val="232D3A"/>
                </a:solidFill>
                <a:latin typeface="Arial"/>
              </a:rPr>
              <a:t>Усі</a:t>
            </a:r>
            <a:r>
              <a:rPr sz="106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060" b="0" dirty="0" err="1">
                <a:solidFill>
                  <a:srgbClr val="232D3A"/>
                </a:solidFill>
                <a:latin typeface="Arial"/>
              </a:rPr>
              <a:t>адміністративні</a:t>
            </a:r>
            <a:r>
              <a:rPr sz="106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060" b="0" dirty="0" err="1">
                <a:solidFill>
                  <a:srgbClr val="232D3A"/>
                </a:solidFill>
                <a:latin typeface="Arial"/>
              </a:rPr>
              <a:t>дії</a:t>
            </a:r>
            <a:r>
              <a:rPr sz="106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060" b="0" dirty="0" err="1">
                <a:solidFill>
                  <a:srgbClr val="232D3A"/>
                </a:solidFill>
                <a:latin typeface="Arial"/>
              </a:rPr>
              <a:t>перевіряються</a:t>
            </a:r>
            <a:r>
              <a:rPr sz="106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060" b="0" dirty="0" err="1">
                <a:solidFill>
                  <a:srgbClr val="232D3A"/>
                </a:solidFill>
                <a:latin typeface="Arial"/>
              </a:rPr>
              <a:t>серверною</a:t>
            </a:r>
            <a:r>
              <a:rPr sz="106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060" b="0" dirty="0" err="1">
                <a:solidFill>
                  <a:srgbClr val="232D3A"/>
                </a:solidFill>
                <a:latin typeface="Arial"/>
              </a:rPr>
              <a:t>частиною</a:t>
            </a:r>
            <a:r>
              <a:rPr sz="1060" b="0" dirty="0">
                <a:solidFill>
                  <a:srgbClr val="232D3A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230368"/>
            <a:ext cx="2240280" cy="310896"/>
          </a:xfrm>
          <a:prstGeom prst="roundRect">
            <a:avLst/>
          </a:prstGeom>
          <a:solidFill>
            <a:srgbClr val="E8F9FC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0" rIns="63500" bIns="0" rtlCol="0" anchor="ctr"/>
          <a:lstStyle/>
          <a:p>
            <a:pPr algn="ctr"/>
            <a:r>
              <a:rPr sz="1040" b="1" dirty="0">
                <a:solidFill>
                  <a:srgbClr val="00A6C7"/>
                </a:solidFill>
                <a:latin typeface="Arial"/>
              </a:rPr>
              <a:t>React + TypeScript + REST API</a:t>
            </a:r>
          </a:p>
        </p:txBody>
      </p:sp>
      <p:grpSp>
        <p:nvGrpSpPr>
          <p:cNvPr id="38" name="Групувати 37">
            <a:extLst>
              <a:ext uri="{FF2B5EF4-FFF2-40B4-BE49-F238E27FC236}">
                <a16:creationId xmlns:a16="http://schemas.microsoft.com/office/drawing/2014/main" id="{DE2B0246-D778-8996-761C-B6D0515C874F}"/>
              </a:ext>
            </a:extLst>
          </p:cNvPr>
          <p:cNvGrpSpPr/>
          <p:nvPr/>
        </p:nvGrpSpPr>
        <p:grpSpPr>
          <a:xfrm>
            <a:off x="3566160" y="994579"/>
            <a:ext cx="6382512" cy="3145536"/>
            <a:chOff x="3566160" y="1056132"/>
            <a:chExt cx="6382512" cy="3145536"/>
          </a:xfrm>
        </p:grpSpPr>
        <p:sp>
          <p:nvSpPr>
            <p:cNvPr id="16" name="Rounded Rectangle 15"/>
            <p:cNvSpPr/>
            <p:nvPr/>
          </p:nvSpPr>
          <p:spPr>
            <a:xfrm>
              <a:off x="3566160" y="1056132"/>
              <a:ext cx="6382512" cy="31455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B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" name="Picture 16" descr="admin_workspace_crop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80359" y="1341324"/>
              <a:ext cx="6208975" cy="257515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3959352" y="1094994"/>
              <a:ext cx="5989320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Робочий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 </a:t>
              </a:r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простір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 </a:t>
              </a:r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адміністратора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: </a:t>
              </a:r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призначення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 </a:t>
              </a:r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спеціаліста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 </a:t>
              </a:r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до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 </a:t>
              </a:r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автомобіля</a:t>
              </a:r>
              <a:endParaRPr sz="1200" b="1" dirty="0">
                <a:solidFill>
                  <a:srgbClr val="5C6879"/>
                </a:solidFill>
                <a:latin typeface="Arial"/>
              </a:endParaRP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3611880" y="4250174"/>
            <a:ext cx="63367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01-telemetry-trend-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723" y="4514850"/>
            <a:ext cx="5952744" cy="16276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97096" y="4259318"/>
            <a:ext cx="538581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rgbClr val="5C6879"/>
                </a:solidFill>
                <a:latin typeface="Arial"/>
              </a:rPr>
              <a:t>Графіки</a:t>
            </a:r>
            <a:r>
              <a:rPr sz="1200" b="1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5C6879"/>
                </a:solidFill>
                <a:latin typeface="Arial"/>
              </a:rPr>
              <a:t>телеметрії</a:t>
            </a:r>
            <a:r>
              <a:rPr sz="1200" b="1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5C6879"/>
                </a:solidFill>
                <a:latin typeface="Arial"/>
              </a:rPr>
              <a:t>технічного</a:t>
            </a:r>
            <a:r>
              <a:rPr sz="1200" b="1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5C6879"/>
                </a:solidFill>
                <a:latin typeface="Arial"/>
              </a:rPr>
              <a:t>спеціаліста</a:t>
            </a:r>
            <a:r>
              <a:rPr sz="1200" b="1" dirty="0">
                <a:solidFill>
                  <a:srgbClr val="5C6879"/>
                </a:solidFill>
                <a:latin typeface="Arial"/>
              </a:rPr>
              <a:t>: </a:t>
            </a:r>
            <a:r>
              <a:rPr sz="1200" b="1" dirty="0" err="1">
                <a:solidFill>
                  <a:srgbClr val="5C6879"/>
                </a:solidFill>
                <a:latin typeface="Arial"/>
              </a:rPr>
              <a:t>динаміка</a:t>
            </a:r>
            <a:r>
              <a:rPr sz="1200" b="1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5C6879"/>
                </a:solidFill>
                <a:latin typeface="Arial"/>
              </a:rPr>
              <a:t>показників</a:t>
            </a:r>
            <a:r>
              <a:rPr sz="1200" b="1" dirty="0">
                <a:solidFill>
                  <a:srgbClr val="5C6879"/>
                </a:solidFill>
                <a:latin typeface="Arial"/>
              </a:rPr>
              <a:t> у </a:t>
            </a:r>
            <a:r>
              <a:rPr sz="1200" b="1" dirty="0" err="1">
                <a:solidFill>
                  <a:srgbClr val="5C6879"/>
                </a:solidFill>
                <a:latin typeface="Arial"/>
              </a:rPr>
              <a:t>часі</a:t>
            </a:r>
            <a:endParaRPr sz="1200" b="1" dirty="0">
              <a:solidFill>
                <a:srgbClr val="5C6879"/>
              </a:solidFill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36995" y="6355080"/>
            <a:ext cx="6172200" cy="301752"/>
          </a:xfrm>
          <a:prstGeom prst="roundRect">
            <a:avLst/>
          </a:prstGeom>
          <a:solidFill>
            <a:srgbClr val="EEF6FB"/>
          </a:solidFill>
          <a:ln w="1016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22191" y="6428232"/>
            <a:ext cx="592531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0" dirty="0" err="1">
                <a:solidFill>
                  <a:srgbClr val="5C6879"/>
                </a:solidFill>
                <a:latin typeface="Arial"/>
              </a:rPr>
              <a:t>Вебзастосунок</a:t>
            </a:r>
            <a:r>
              <a:rPr sz="88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880" b="0" dirty="0" err="1">
                <a:solidFill>
                  <a:srgbClr val="5C6879"/>
                </a:solidFill>
                <a:latin typeface="Arial"/>
              </a:rPr>
              <a:t>поєднує</a:t>
            </a:r>
            <a:r>
              <a:rPr sz="88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880" b="0" dirty="0" err="1">
                <a:solidFill>
                  <a:srgbClr val="5C6879"/>
                </a:solidFill>
                <a:latin typeface="Arial"/>
              </a:rPr>
              <a:t>адміністративне</a:t>
            </a:r>
            <a:r>
              <a:rPr sz="88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880" b="0" dirty="0" err="1">
                <a:solidFill>
                  <a:srgbClr val="5C6879"/>
                </a:solidFill>
                <a:latin typeface="Arial"/>
              </a:rPr>
              <a:t>керування</a:t>
            </a:r>
            <a:r>
              <a:rPr sz="88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880" b="0" dirty="0" err="1">
                <a:solidFill>
                  <a:srgbClr val="5C6879"/>
                </a:solidFill>
                <a:latin typeface="Arial"/>
              </a:rPr>
              <a:t>та</a:t>
            </a:r>
            <a:r>
              <a:rPr sz="88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880" b="0" dirty="0" err="1">
                <a:solidFill>
                  <a:srgbClr val="5C6879"/>
                </a:solidFill>
                <a:latin typeface="Arial"/>
              </a:rPr>
              <a:t>технічний</a:t>
            </a:r>
            <a:r>
              <a:rPr sz="88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880" b="0" dirty="0" err="1">
                <a:solidFill>
                  <a:srgbClr val="5C6879"/>
                </a:solidFill>
                <a:latin typeface="Arial"/>
              </a:rPr>
              <a:t>аналіз</a:t>
            </a:r>
            <a:r>
              <a:rPr sz="880" b="0" dirty="0">
                <a:solidFill>
                  <a:srgbClr val="5C6879"/>
                </a:solidFill>
                <a:latin typeface="Arial"/>
              </a:rPr>
              <a:t> </a:t>
            </a:r>
            <a:r>
              <a:rPr lang="uk-UA" sz="880" b="0" dirty="0">
                <a:solidFill>
                  <a:srgbClr val="5C6879"/>
                </a:solidFill>
                <a:latin typeface="Arial"/>
              </a:rPr>
              <a:t>через </a:t>
            </a:r>
            <a:r>
              <a:rPr lang="en-US" sz="880" b="0" dirty="0">
                <a:solidFill>
                  <a:srgbClr val="5C6879"/>
                </a:solidFill>
                <a:latin typeface="Arial"/>
              </a:rPr>
              <a:t>REST API </a:t>
            </a:r>
            <a:r>
              <a:rPr lang="uk-UA" sz="880" dirty="0">
                <a:solidFill>
                  <a:srgbClr val="5C6879"/>
                </a:solidFill>
                <a:latin typeface="Arial"/>
              </a:rPr>
              <a:t>серверної частини</a:t>
            </a:r>
            <a:r>
              <a:rPr sz="880" b="0" dirty="0">
                <a:solidFill>
                  <a:srgbClr val="5C6879"/>
                </a:solidFill>
                <a:latin typeface="Arial"/>
              </a:rPr>
              <a:t>.</a:t>
            </a:r>
          </a:p>
        </p:txBody>
      </p:sp>
      <p:pic>
        <p:nvPicPr>
          <p:cNvPr id="31" name="Picture 3" descr="se_logo_cropped.png">
            <a:extLst>
              <a:ext uri="{FF2B5EF4-FFF2-40B4-BE49-F238E27FC236}">
                <a16:creationId xmlns:a16="http://schemas.microsoft.com/office/drawing/2014/main" id="{21D9E959-9EA8-3D29-4404-E786DC801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32" name="Oval 4">
            <a:extLst>
              <a:ext uri="{FF2B5EF4-FFF2-40B4-BE49-F238E27FC236}">
                <a16:creationId xmlns:a16="http://schemas.microsoft.com/office/drawing/2014/main" id="{8B2852E4-A64B-5E39-B512-845E1AFC52F5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9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grpSp>
        <p:nvGrpSpPr>
          <p:cNvPr id="37" name="Групувати 36">
            <a:extLst>
              <a:ext uri="{FF2B5EF4-FFF2-40B4-BE49-F238E27FC236}">
                <a16:creationId xmlns:a16="http://schemas.microsoft.com/office/drawing/2014/main" id="{983BFB95-8864-F037-0544-540ACC2DF7FF}"/>
              </a:ext>
            </a:extLst>
          </p:cNvPr>
          <p:cNvGrpSpPr/>
          <p:nvPr/>
        </p:nvGrpSpPr>
        <p:grpSpPr>
          <a:xfrm>
            <a:off x="10177272" y="1040130"/>
            <a:ext cx="1783080" cy="4535424"/>
            <a:chOff x="10104120" y="1261872"/>
            <a:chExt cx="1783080" cy="4535424"/>
          </a:xfrm>
        </p:grpSpPr>
        <p:sp>
          <p:nvSpPr>
            <p:cNvPr id="22" name="Rounded Rectangle 21"/>
            <p:cNvSpPr/>
            <p:nvPr/>
          </p:nvSpPr>
          <p:spPr>
            <a:xfrm>
              <a:off x="10104120" y="1261872"/>
              <a:ext cx="1783080" cy="453542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B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241281" y="5339927"/>
              <a:ext cx="1508760" cy="2743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40" b="1" dirty="0" err="1">
                  <a:solidFill>
                    <a:srgbClr val="232D3A"/>
                  </a:solidFill>
                  <a:latin typeface="Arial"/>
                </a:rPr>
                <a:t>Форма</a:t>
              </a:r>
              <a:r>
                <a:rPr sz="114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140" b="1" dirty="0" err="1">
                  <a:solidFill>
                    <a:srgbClr val="232D3A"/>
                  </a:solidFill>
                  <a:latin typeface="Arial"/>
                </a:rPr>
                <a:t>створення</a:t>
              </a:r>
              <a:r>
                <a:rPr sz="1140" b="1" dirty="0">
                  <a:solidFill>
                    <a:srgbClr val="232D3A"/>
                  </a:solidFill>
                  <a:latin typeface="Arial"/>
                </a:rPr>
                <a:t>
</a:t>
              </a:r>
              <a:r>
                <a:rPr sz="1140" b="1" dirty="0" err="1">
                  <a:solidFill>
                    <a:srgbClr val="232D3A"/>
                  </a:solidFill>
                  <a:latin typeface="Arial"/>
                </a:rPr>
                <a:t>спеціаліста</a:t>
              </a:r>
              <a:endParaRPr sz="1140" b="1" dirty="0">
                <a:solidFill>
                  <a:srgbClr val="232D3A"/>
                </a:solidFill>
                <a:latin typeface="Arial"/>
              </a:endParaRPr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DC8B3434-DBD9-A9E3-2F28-5F224A0E4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17934" y="1458468"/>
              <a:ext cx="1751508" cy="38679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6675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dirty="0" err="1">
                <a:solidFill>
                  <a:srgbClr val="232D3A"/>
                </a:solidFill>
                <a:latin typeface="Arial"/>
              </a:rPr>
              <a:t>Реалізація</a:t>
            </a:r>
            <a:r>
              <a:rPr sz="26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232D3A"/>
                </a:solidFill>
                <a:latin typeface="Arial"/>
              </a:rPr>
              <a:t>мобільного</a:t>
            </a:r>
            <a:r>
              <a:rPr sz="26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232D3A"/>
                </a:solidFill>
                <a:latin typeface="Arial"/>
              </a:rPr>
              <a:t>застосунку</a:t>
            </a:r>
            <a:endParaRPr sz="26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768096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dirty="0" err="1">
                <a:solidFill>
                  <a:srgbClr val="5B6778"/>
                </a:solidFill>
                <a:latin typeface="Arial"/>
              </a:rPr>
              <a:t>Інтерфейс</a:t>
            </a:r>
            <a:r>
              <a:rPr sz="125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778"/>
                </a:solidFill>
                <a:latin typeface="Arial"/>
              </a:rPr>
              <a:t>власника</a:t>
            </a:r>
            <a:r>
              <a:rPr sz="125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778"/>
                </a:solidFill>
                <a:latin typeface="Arial"/>
              </a:rPr>
              <a:t>автомобіля</a:t>
            </a:r>
            <a:r>
              <a:rPr sz="125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778"/>
                </a:solidFill>
                <a:latin typeface="Arial"/>
              </a:rPr>
              <a:t>для</a:t>
            </a:r>
            <a:r>
              <a:rPr sz="125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778"/>
                </a:solidFill>
                <a:latin typeface="Arial"/>
              </a:rPr>
              <a:t>щоденного</a:t>
            </a:r>
            <a:r>
              <a:rPr sz="125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778"/>
                </a:solidFill>
                <a:latin typeface="Arial"/>
              </a:rPr>
              <a:t>використання</a:t>
            </a:r>
            <a:endParaRPr sz="1250" b="0" dirty="0">
              <a:solidFill>
                <a:srgbClr val="5B6778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048" y="1024128"/>
            <a:ext cx="960120" cy="36576"/>
          </a:xfrm>
          <a:prstGeom prst="rect">
            <a:avLst/>
          </a:prstGeom>
          <a:solidFill>
            <a:srgbClr val="F67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71978" y="153533"/>
            <a:ext cx="1507894" cy="29451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87897" y="3265472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0" b="0" dirty="0" err="1">
                <a:solidFill>
                  <a:srgbClr val="5B6778"/>
                </a:solidFill>
                <a:latin typeface="Arial"/>
              </a:rPr>
              <a:t>Автомобілі</a:t>
            </a:r>
            <a:r>
              <a:rPr sz="112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5B6778"/>
                </a:solidFill>
                <a:latin typeface="Arial"/>
              </a:rPr>
              <a:t>та</a:t>
            </a:r>
            <a:r>
              <a:rPr sz="112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5B6778"/>
                </a:solidFill>
                <a:latin typeface="Arial"/>
              </a:rPr>
              <a:t>стан</a:t>
            </a:r>
            <a:endParaRPr sz="1120" b="0" dirty="0">
              <a:solidFill>
                <a:srgbClr val="5B6778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23132" y="123588"/>
            <a:ext cx="1599724" cy="30632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675" y="3154334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0" b="0" dirty="0" err="1">
                <a:solidFill>
                  <a:srgbClr val="5B6778"/>
                </a:solidFill>
                <a:latin typeface="Arial"/>
              </a:rPr>
              <a:t>Сервісні</a:t>
            </a:r>
            <a:r>
              <a:rPr sz="112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5B6778"/>
                </a:solidFill>
                <a:latin typeface="Arial"/>
              </a:rPr>
              <a:t>заявки</a:t>
            </a:r>
            <a:endParaRPr sz="1120" b="0" dirty="0">
              <a:solidFill>
                <a:srgbClr val="5B6778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02521" y="3538087"/>
            <a:ext cx="1773549" cy="28681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9364" y="6474113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0" b="0" dirty="0" err="1">
                <a:solidFill>
                  <a:srgbClr val="5B6778"/>
                </a:solidFill>
                <a:latin typeface="Arial"/>
              </a:rPr>
              <a:t>Сповіщення</a:t>
            </a:r>
            <a:endParaRPr sz="1120" b="0" dirty="0">
              <a:solidFill>
                <a:srgbClr val="5B6778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79672" y="3364684"/>
            <a:ext cx="1648206" cy="31016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5825" y="6535279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0" b="0" dirty="0" err="1">
                <a:solidFill>
                  <a:srgbClr val="5B6778"/>
                </a:solidFill>
                <a:latin typeface="Arial"/>
              </a:rPr>
              <a:t>Профіль</a:t>
            </a:r>
            <a:r>
              <a:rPr sz="1120" b="0" dirty="0">
                <a:solidFill>
                  <a:srgbClr val="5B6778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5B6778"/>
                </a:solidFill>
                <a:latin typeface="Arial"/>
              </a:rPr>
              <a:t>користувача</a:t>
            </a:r>
            <a:endParaRPr sz="1120" b="0" dirty="0">
              <a:solidFill>
                <a:srgbClr val="5B6778"/>
              </a:solidFill>
              <a:latin typeface="Arial"/>
            </a:endParaRPr>
          </a:p>
        </p:txBody>
      </p:sp>
      <p:grpSp>
        <p:nvGrpSpPr>
          <p:cNvPr id="50" name="Групувати 49">
            <a:extLst>
              <a:ext uri="{FF2B5EF4-FFF2-40B4-BE49-F238E27FC236}">
                <a16:creationId xmlns:a16="http://schemas.microsoft.com/office/drawing/2014/main" id="{F39E9754-4973-EFC7-F808-F9336F23457E}"/>
              </a:ext>
            </a:extLst>
          </p:cNvPr>
          <p:cNvGrpSpPr/>
          <p:nvPr/>
        </p:nvGrpSpPr>
        <p:grpSpPr>
          <a:xfrm>
            <a:off x="384048" y="1768978"/>
            <a:ext cx="5431536" cy="3502153"/>
            <a:chOff x="4846320" y="1353312"/>
            <a:chExt cx="6373368" cy="3813048"/>
          </a:xfrm>
        </p:grpSpPr>
        <p:sp>
          <p:nvSpPr>
            <p:cNvPr id="19" name="Rounded Rectangle 18"/>
            <p:cNvSpPr/>
            <p:nvPr/>
          </p:nvSpPr>
          <p:spPr>
            <a:xfrm>
              <a:off x="4846320" y="1353312"/>
              <a:ext cx="6327648" cy="3813048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D3DC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46320" y="1353312"/>
              <a:ext cx="91440" cy="3813048"/>
            </a:xfrm>
            <a:prstGeom prst="rect">
              <a:avLst/>
            </a:prstGeom>
            <a:solidFill>
              <a:srgbClr val="00AEC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30368" y="1581912"/>
              <a:ext cx="5989320" cy="26807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600" b="1" dirty="0" err="1">
                  <a:solidFill>
                    <a:srgbClr val="232D3A"/>
                  </a:solidFill>
                  <a:latin typeface="Arial"/>
                </a:rPr>
                <a:t>Ключові</a:t>
              </a:r>
              <a:r>
                <a:rPr sz="160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600" b="1" dirty="0" err="1">
                  <a:solidFill>
                    <a:srgbClr val="232D3A"/>
                  </a:solidFill>
                  <a:latin typeface="Arial"/>
                </a:rPr>
                <a:t>можливості</a:t>
              </a:r>
              <a:r>
                <a:rPr sz="160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600" b="1" dirty="0" err="1">
                  <a:solidFill>
                    <a:srgbClr val="232D3A"/>
                  </a:solidFill>
                  <a:latin typeface="Arial"/>
                </a:rPr>
                <a:t>мобільного</a:t>
              </a:r>
              <a:r>
                <a:rPr sz="160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600" b="1" dirty="0" err="1">
                  <a:solidFill>
                    <a:srgbClr val="232D3A"/>
                  </a:solidFill>
                  <a:latin typeface="Arial"/>
                </a:rPr>
                <a:t>застосунку</a:t>
              </a:r>
              <a:endParaRPr sz="1600" b="1" dirty="0">
                <a:solidFill>
                  <a:srgbClr val="232D3A"/>
                </a:solidFill>
                <a:latin typeface="Arial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30368" y="2020824"/>
              <a:ext cx="5760720" cy="36860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Власник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автомобіля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отримує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основні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сценарії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без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переходу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до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100" b="0" dirty="0" err="1">
                  <a:solidFill>
                    <a:srgbClr val="5B6778"/>
                  </a:solidFill>
                  <a:latin typeface="Arial"/>
                </a:rPr>
                <a:t>вебінтерфейсу</a:t>
              </a:r>
              <a:r>
                <a:rPr sz="1100" b="0" dirty="0">
                  <a:solidFill>
                    <a:srgbClr val="5B6778"/>
                  </a:solidFill>
                  <a:latin typeface="Arial"/>
                </a:rPr>
                <a:t>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41848" y="2514600"/>
              <a:ext cx="1965960" cy="18430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00" b="1" dirty="0" err="1">
                  <a:solidFill>
                    <a:srgbClr val="232D3A"/>
                  </a:solidFill>
                  <a:latin typeface="Arial"/>
                </a:rPr>
                <a:t>автомобілі</a:t>
              </a:r>
              <a:r>
                <a:rPr sz="110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100" b="1" dirty="0" err="1">
                  <a:solidFill>
                    <a:srgbClr val="232D3A"/>
                  </a:solidFill>
                  <a:latin typeface="Arial"/>
                </a:rPr>
                <a:t>та</a:t>
              </a:r>
              <a:r>
                <a:rPr sz="110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100" b="1" dirty="0" err="1">
                  <a:solidFill>
                    <a:srgbClr val="232D3A"/>
                  </a:solidFill>
                  <a:latin typeface="Arial"/>
                </a:rPr>
                <a:t>стан</a:t>
              </a:r>
              <a:endParaRPr sz="1100" b="1" dirty="0">
                <a:solidFill>
                  <a:srgbClr val="232D3A"/>
                </a:solidFill>
                <a:latin typeface="Arial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33488" y="2514600"/>
              <a:ext cx="3886200" cy="3200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перегляд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власних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авто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,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загального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стану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і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останньої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телеметрії</a:t>
              </a:r>
              <a:endParaRPr sz="1050" b="0" dirty="0">
                <a:solidFill>
                  <a:srgbClr val="5B6778"/>
                </a:solidFill>
                <a:latin typeface="Arial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641848" y="3154680"/>
              <a:ext cx="1965960" cy="18430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00" b="1" dirty="0" err="1">
                  <a:solidFill>
                    <a:srgbClr val="232D3A"/>
                  </a:solidFill>
                  <a:latin typeface="Arial"/>
                </a:rPr>
                <a:t>сервісні</a:t>
              </a:r>
              <a:r>
                <a:rPr sz="1100" b="1" dirty="0">
                  <a:solidFill>
                    <a:srgbClr val="232D3A"/>
                  </a:solidFill>
                  <a:latin typeface="Arial"/>
                </a:rPr>
                <a:t> </a:t>
              </a:r>
              <a:r>
                <a:rPr sz="1100" b="1" dirty="0" err="1">
                  <a:solidFill>
                    <a:srgbClr val="232D3A"/>
                  </a:solidFill>
                  <a:latin typeface="Arial"/>
                </a:rPr>
                <a:t>заявки</a:t>
              </a:r>
              <a:endParaRPr sz="1100" b="1" dirty="0">
                <a:solidFill>
                  <a:srgbClr val="232D3A"/>
                </a:solidFill>
                <a:latin typeface="Arial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33488" y="3150108"/>
              <a:ext cx="3886200" cy="3200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створення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та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контроль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заявок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на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технічне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обслуговування</a:t>
              </a:r>
              <a:endParaRPr sz="1050" b="0" dirty="0">
                <a:solidFill>
                  <a:srgbClr val="5B6778"/>
                </a:solidFill>
                <a:latin typeface="Arial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41848" y="3749039"/>
              <a:ext cx="1965960" cy="18430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00" b="1" dirty="0" err="1">
                  <a:solidFill>
                    <a:srgbClr val="232D3A"/>
                  </a:solidFill>
                  <a:latin typeface="Arial"/>
                </a:rPr>
                <a:t>сповіщення</a:t>
              </a:r>
              <a:endParaRPr sz="1100" b="1" dirty="0">
                <a:solidFill>
                  <a:srgbClr val="232D3A"/>
                </a:solidFill>
                <a:latin typeface="Arial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33488" y="3749040"/>
              <a:ext cx="3886200" cy="3200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50" b="0">
                  <a:solidFill>
                    <a:srgbClr val="5B6778"/>
                  </a:solidFill>
                  <a:latin typeface="Arial"/>
                </a:rPr>
                <a:t>перегляд подій, warning/critical-попереджень і системних повідомлень</a:t>
              </a:r>
            </a:p>
          </p:txBody>
        </p:sp>
        <p:grpSp>
          <p:nvGrpSpPr>
            <p:cNvPr id="49" name="Групувати 48">
              <a:extLst>
                <a:ext uri="{FF2B5EF4-FFF2-40B4-BE49-F238E27FC236}">
                  <a16:creationId xmlns:a16="http://schemas.microsoft.com/office/drawing/2014/main" id="{872A7608-BFF7-2B79-8441-DF9A82386146}"/>
                </a:ext>
              </a:extLst>
            </p:cNvPr>
            <p:cNvGrpSpPr/>
            <p:nvPr/>
          </p:nvGrpSpPr>
          <p:grpSpPr>
            <a:xfrm>
              <a:off x="5230368" y="2468880"/>
              <a:ext cx="310896" cy="2203704"/>
              <a:chOff x="5230368" y="2468880"/>
              <a:chExt cx="310896" cy="2203704"/>
            </a:xfrm>
          </p:grpSpPr>
          <p:grpSp>
            <p:nvGrpSpPr>
              <p:cNvPr id="47" name="Групувати 46">
                <a:extLst>
                  <a:ext uri="{FF2B5EF4-FFF2-40B4-BE49-F238E27FC236}">
                    <a16:creationId xmlns:a16="http://schemas.microsoft.com/office/drawing/2014/main" id="{BA4B53C3-3999-776E-519B-0A08D7FB93D9}"/>
                  </a:ext>
                </a:extLst>
              </p:cNvPr>
              <p:cNvGrpSpPr/>
              <p:nvPr/>
            </p:nvGrpSpPr>
            <p:grpSpPr>
              <a:xfrm>
                <a:off x="5230368" y="2468880"/>
                <a:ext cx="310896" cy="960120"/>
                <a:chOff x="5230368" y="2468880"/>
                <a:chExt cx="310896" cy="960120"/>
              </a:xfrm>
            </p:grpSpPr>
            <p:sp>
              <p:nvSpPr>
                <p:cNvPr id="23" name="Oval 22"/>
                <p:cNvSpPr/>
                <p:nvPr/>
              </p:nvSpPr>
              <p:spPr>
                <a:xfrm>
                  <a:off x="5230368" y="2468880"/>
                  <a:ext cx="310896" cy="310896"/>
                </a:xfrm>
                <a:prstGeom prst="ellipse">
                  <a:avLst/>
                </a:prstGeom>
                <a:solidFill>
                  <a:srgbClr val="00AECF"/>
                </a:solidFill>
                <a:ln w="6350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5230368" y="2563886"/>
                  <a:ext cx="310896" cy="1308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sz="850" b="1" dirty="0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  <p:sp>
              <p:nvSpPr>
                <p:cNvPr id="27" name="Oval 26"/>
                <p:cNvSpPr/>
                <p:nvPr/>
              </p:nvSpPr>
              <p:spPr>
                <a:xfrm>
                  <a:off x="5230368" y="3118104"/>
                  <a:ext cx="310896" cy="310896"/>
                </a:xfrm>
                <a:prstGeom prst="ellipse">
                  <a:avLst/>
                </a:prstGeom>
                <a:solidFill>
                  <a:schemeClr val="accent5"/>
                </a:solidFill>
                <a:ln w="6350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5230368" y="3211326"/>
                  <a:ext cx="310896" cy="1308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sz="850" b="1" dirty="0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id="48" name="Групувати 47">
                <a:extLst>
                  <a:ext uri="{FF2B5EF4-FFF2-40B4-BE49-F238E27FC236}">
                    <a16:creationId xmlns:a16="http://schemas.microsoft.com/office/drawing/2014/main" id="{3EE60BDD-E085-2D18-BC4A-0EACD4267FDE}"/>
                  </a:ext>
                </a:extLst>
              </p:cNvPr>
              <p:cNvGrpSpPr/>
              <p:nvPr/>
            </p:nvGrpSpPr>
            <p:grpSpPr>
              <a:xfrm>
                <a:off x="5230368" y="3729358"/>
                <a:ext cx="310896" cy="943226"/>
                <a:chOff x="5230368" y="3729358"/>
                <a:chExt cx="310896" cy="943226"/>
              </a:xfrm>
            </p:grpSpPr>
            <p:sp>
              <p:nvSpPr>
                <p:cNvPr id="31" name="Oval 30"/>
                <p:cNvSpPr/>
                <p:nvPr/>
              </p:nvSpPr>
              <p:spPr>
                <a:xfrm>
                  <a:off x="5230368" y="3729358"/>
                  <a:ext cx="310896" cy="310896"/>
                </a:xfrm>
                <a:prstGeom prst="ellipse">
                  <a:avLst/>
                </a:prstGeom>
                <a:solidFill>
                  <a:schemeClr val="accent5"/>
                </a:solidFill>
                <a:ln w="6350">
                  <a:solidFill>
                    <a:srgbClr val="00AEC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5230368" y="3819403"/>
                  <a:ext cx="310896" cy="1308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sz="850" b="1" dirty="0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5230368" y="4361688"/>
                  <a:ext cx="310896" cy="310896"/>
                </a:xfrm>
                <a:prstGeom prst="ellipse">
                  <a:avLst/>
                </a:prstGeom>
                <a:solidFill>
                  <a:schemeClr val="accent5"/>
                </a:solidFill>
                <a:ln w="6350">
                  <a:solidFill>
                    <a:srgbClr val="00AEC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" name="TextBox 35"/>
                <p:cNvSpPr txBox="1"/>
                <p:nvPr/>
              </p:nvSpPr>
              <p:spPr>
                <a:xfrm>
                  <a:off x="5230368" y="4445766"/>
                  <a:ext cx="310896" cy="1308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sz="850" b="1" dirty="0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</p:grpSp>
        </p:grpSp>
        <p:sp>
          <p:nvSpPr>
            <p:cNvPr id="37" name="TextBox 36"/>
            <p:cNvSpPr txBox="1"/>
            <p:nvPr/>
          </p:nvSpPr>
          <p:spPr>
            <a:xfrm>
              <a:off x="5687568" y="4390904"/>
              <a:ext cx="1965960" cy="18430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00" b="1" dirty="0" err="1">
                  <a:solidFill>
                    <a:srgbClr val="232D3A"/>
                  </a:solidFill>
                  <a:latin typeface="Arial"/>
                </a:rPr>
                <a:t>профіль</a:t>
              </a:r>
              <a:endParaRPr sz="1100" b="1" dirty="0">
                <a:solidFill>
                  <a:srgbClr val="232D3A"/>
                </a:solidFill>
                <a:latin typeface="Arial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310628" y="4407408"/>
              <a:ext cx="3886200" cy="3200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керування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акаунтом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власника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та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базовими</a:t>
              </a:r>
              <a:r>
                <a:rPr sz="1050" b="0" dirty="0">
                  <a:solidFill>
                    <a:srgbClr val="5B6778"/>
                  </a:solidFill>
                  <a:latin typeface="Arial"/>
                </a:rPr>
                <a:t> </a:t>
              </a:r>
              <a:r>
                <a:rPr sz="1050" b="0" dirty="0" err="1">
                  <a:solidFill>
                    <a:srgbClr val="5B6778"/>
                  </a:solidFill>
                  <a:latin typeface="Arial"/>
                </a:rPr>
                <a:t>налаштуваннями</a:t>
              </a:r>
              <a:endParaRPr sz="1050" b="0" dirty="0">
                <a:solidFill>
                  <a:srgbClr val="5B6778"/>
                </a:solidFill>
                <a:latin typeface="Arial"/>
              </a:endParaRPr>
            </a:p>
          </p:txBody>
        </p:sp>
      </p:grp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3CBDD543-65C3-9B24-E7A9-42B5903E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92" y="309144"/>
            <a:ext cx="1587564" cy="2769992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499FAFF4-C870-F488-ED64-BD07ED257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942" y="192333"/>
            <a:ext cx="1458288" cy="2733747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F7E6954-1FCC-86FE-36DB-A18EEE7AE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132" y="3725894"/>
            <a:ext cx="1773550" cy="2492557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55D0E715-02EE-2ED5-56A0-098F6B6E9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485" y="3441709"/>
            <a:ext cx="1394879" cy="2954345"/>
          </a:xfrm>
          <a:prstGeom prst="rect">
            <a:avLst/>
          </a:prstGeom>
        </p:spPr>
      </p:pic>
      <p:pic>
        <p:nvPicPr>
          <p:cNvPr id="59" name="Picture 3" descr="se_logo_cropped.png">
            <a:extLst>
              <a:ext uri="{FF2B5EF4-FFF2-40B4-BE49-F238E27FC236}">
                <a16:creationId xmlns:a16="http://schemas.microsoft.com/office/drawing/2014/main" id="{5D9D2DE0-EAA7-208B-DC9B-A3CD3E546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60" name="Oval 4">
            <a:extLst>
              <a:ext uri="{FF2B5EF4-FFF2-40B4-BE49-F238E27FC236}">
                <a16:creationId xmlns:a16="http://schemas.microsoft.com/office/drawing/2014/main" id="{94452E49-F965-ABAA-C9E6-8FD290BB420A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10896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 err="1">
                <a:solidFill>
                  <a:srgbClr val="232D3A"/>
                </a:solidFill>
                <a:latin typeface="Arial"/>
              </a:rPr>
              <a:t>Фрагмент</a:t>
            </a:r>
            <a:r>
              <a:rPr sz="24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232D3A"/>
                </a:solidFill>
                <a:latin typeface="Arial"/>
              </a:rPr>
              <a:t>реалізації</a:t>
            </a:r>
            <a:r>
              <a:rPr sz="2400" b="1" dirty="0">
                <a:solidFill>
                  <a:srgbClr val="232D3A"/>
                </a:solidFill>
                <a:latin typeface="Arial"/>
              </a:rPr>
              <a:t>: </a:t>
            </a:r>
            <a:r>
              <a:rPr lang="uk-UA" sz="2400" b="1" dirty="0">
                <a:solidFill>
                  <a:srgbClr val="232D3A"/>
                </a:solidFill>
                <a:latin typeface="Arial"/>
              </a:rPr>
              <a:t>життєвий цикл </a:t>
            </a:r>
            <a:r>
              <a:rPr sz="2400" b="1" dirty="0">
                <a:solidFill>
                  <a:srgbClr val="232D3A"/>
                </a:solidFill>
                <a:latin typeface="Arial"/>
              </a:rPr>
              <a:t>alert + </a:t>
            </a:r>
            <a:r>
              <a:rPr sz="2400" b="1" dirty="0" err="1">
                <a:solidFill>
                  <a:srgbClr val="232D3A"/>
                </a:solidFill>
                <a:latin typeface="Arial"/>
              </a:rPr>
              <a:t>гістерезис</a:t>
            </a:r>
            <a:endParaRPr sz="24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9875520" cy="166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080" dirty="0">
                <a:solidFill>
                  <a:srgbClr val="586576"/>
                </a:solidFill>
                <a:latin typeface="Arial"/>
              </a:rPr>
              <a:t>Л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огіка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яка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не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дублює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active alert і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не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закриває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його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після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одного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normal-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запису</a:t>
            </a:r>
            <a:endParaRPr sz="1080" b="0" dirty="0">
              <a:solidFill>
                <a:srgbClr val="586576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048" y="1024128"/>
            <a:ext cx="969264" cy="36576"/>
          </a:xfrm>
          <a:prstGeom prst="rect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806440" cy="2057400"/>
          </a:xfrm>
          <a:prstGeom prst="roundRect">
            <a:avLst/>
          </a:prstGeom>
          <a:solidFill>
            <a:srgbClr val="091221"/>
          </a:solidFill>
          <a:ln w="12700"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13915"/>
            <a:ext cx="544067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rgbClr val="FFFFFF"/>
                </a:solidFill>
                <a:latin typeface="Arial"/>
              </a:rPr>
              <a:t>ApplyEvaluation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(): lifecycle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дублювання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088" y="1938527"/>
            <a:ext cx="5422392" cy="1325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5" dirty="0">
                <a:solidFill>
                  <a:srgbClr val="EAF1F8"/>
                </a:solidFill>
                <a:latin typeface="Consolas"/>
              </a:rPr>
              <a:t>existing, err :=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nonResolvedByVehicleAndType</a:t>
            </a:r>
            <a:r>
              <a:rPr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ctx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input.VehicleID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input.Type</a:t>
            </a:r>
            <a:r>
              <a:rPr sz="725" dirty="0">
                <a:solidFill>
                  <a:srgbClr val="EAF1F8"/>
                </a:solidFill>
                <a:latin typeface="Consolas"/>
              </a:rPr>
              <a:t>)
if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existing.Status</a:t>
            </a:r>
            <a:r>
              <a:rPr sz="725" dirty="0">
                <a:solidFill>
                  <a:srgbClr val="EAF1F8"/>
                </a:solidFill>
                <a:latin typeface="Consolas"/>
              </a:rPr>
              <a:t> ==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StatusCleared</a:t>
            </a:r>
            <a:r>
              <a:rPr sz="725" dirty="0">
                <a:solidFill>
                  <a:srgbClr val="EAF1F8"/>
                </a:solidFill>
                <a:latin typeface="Consolas"/>
              </a:rPr>
              <a:t> {
    item, err 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reopenAlert</a:t>
            </a:r>
            <a:r>
              <a:rPr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ctx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existing.ID, input)
    action 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LifecycleReopened</a:t>
            </a:r>
            <a:r>
              <a:rPr sz="725" dirty="0">
                <a:solidFill>
                  <a:srgbClr val="EAF1F8"/>
                </a:solidFill>
                <a:latin typeface="Consolas"/>
              </a:rPr>
              <a:t>
} else if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shouldEscalate</a:t>
            </a:r>
            <a:r>
              <a:rPr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existing.Severity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input.Severity</a:t>
            </a:r>
            <a:r>
              <a:rPr sz="725" dirty="0">
                <a:solidFill>
                  <a:srgbClr val="EAF1F8"/>
                </a:solidFill>
                <a:latin typeface="Consolas"/>
              </a:rPr>
              <a:t>) {
    item, err 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updateActiveAlert</a:t>
            </a:r>
            <a:r>
              <a:rPr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ctx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existing.ID, input, true)
    action = LifecycleEscalated
} else {
    item, err 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updateActiveAlert</a:t>
            </a:r>
            <a:r>
              <a:rPr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ctx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existing.ID, input, false)
    action 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LifecycleExisting</a:t>
            </a:r>
            <a:r>
              <a:rPr sz="725" dirty="0">
                <a:solidFill>
                  <a:srgbClr val="EAF1F8"/>
                </a:solidFill>
                <a:latin typeface="Consolas"/>
              </a:rPr>
              <a:t>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49624"/>
            <a:ext cx="5806440" cy="1636776"/>
          </a:xfrm>
          <a:prstGeom prst="roundRect">
            <a:avLst/>
          </a:prstGeom>
          <a:solidFill>
            <a:srgbClr val="091221"/>
          </a:solidFill>
          <a:ln w="12700"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981042"/>
            <a:ext cx="544067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rgbClr val="FFFFFF"/>
                </a:solidFill>
                <a:latin typeface="Arial"/>
              </a:rPr>
              <a:t>ApplyRecovery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():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гістерезис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відновлення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" y="4325113"/>
            <a:ext cx="5422392" cy="841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5" dirty="0">
                <a:solidFill>
                  <a:srgbClr val="EAF1F8"/>
                </a:solidFill>
                <a:latin typeface="Consolas"/>
              </a:rPr>
              <a:t>if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input.Recovered</a:t>
            </a:r>
            <a:r>
              <a:rPr sz="725" dirty="0">
                <a:solidFill>
                  <a:srgbClr val="EAF1F8"/>
                </a:solidFill>
                <a:latin typeface="Consolas"/>
              </a:rPr>
              <a:t> {
   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nextStreak</a:t>
            </a:r>
            <a:r>
              <a:rPr sz="725" dirty="0">
                <a:solidFill>
                  <a:srgbClr val="EAF1F8"/>
                </a:solidFill>
                <a:latin typeface="Consolas"/>
              </a:rPr>
              <a:t> :=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existing.RecoveryStreak</a:t>
            </a:r>
            <a:r>
              <a:rPr sz="725" dirty="0">
                <a:solidFill>
                  <a:srgbClr val="EAF1F8"/>
                </a:solidFill>
                <a:latin typeface="Consolas"/>
              </a:rPr>
              <a:t> + 1
    if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nextStreak</a:t>
            </a:r>
            <a:r>
              <a:rPr sz="725" dirty="0">
                <a:solidFill>
                  <a:srgbClr val="EAF1F8"/>
                </a:solidFill>
                <a:latin typeface="Consolas"/>
              </a:rPr>
              <a:t> &gt;=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requiredSamples</a:t>
            </a:r>
            <a:r>
              <a:rPr sz="725" dirty="0">
                <a:solidFill>
                  <a:srgbClr val="EAF1F8"/>
                </a:solidFill>
                <a:latin typeface="Consolas"/>
              </a:rPr>
              <a:t> {
        item, err 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clearAlert</a:t>
            </a:r>
            <a:r>
              <a:rPr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ctx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existing.ID,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input.TelemetryRecordID</a:t>
            </a:r>
            <a:r>
              <a:rPr sz="725" dirty="0">
                <a:solidFill>
                  <a:srgbClr val="EAF1F8"/>
                </a:solidFill>
                <a:latin typeface="Consolas"/>
              </a:rPr>
              <a:t>)
        return item,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LifecycleCleared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nil
    }
    item, err 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updateRecoveryStreak</a:t>
            </a:r>
            <a:r>
              <a:rPr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ctx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existing.ID,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input.TelemetryRecordID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nextStreak</a:t>
            </a:r>
            <a:r>
              <a:rPr sz="725" dirty="0">
                <a:solidFill>
                  <a:srgbClr val="EAF1F8"/>
                </a:solidFill>
                <a:latin typeface="Consolas"/>
              </a:rPr>
              <a:t>)
} else {
    item, err =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updateRecoveryStreak</a:t>
            </a:r>
            <a:r>
              <a:rPr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ctx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tx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existing.ID, </a:t>
            </a:r>
            <a:r>
              <a:rPr sz="725" dirty="0" err="1">
                <a:solidFill>
                  <a:srgbClr val="EAF1F8"/>
                </a:solidFill>
                <a:latin typeface="Consolas"/>
              </a:rPr>
              <a:t>input.TelemetryRecordID</a:t>
            </a:r>
            <a:r>
              <a:rPr sz="725" dirty="0">
                <a:solidFill>
                  <a:srgbClr val="EAF1F8"/>
                </a:solidFill>
                <a:latin typeface="Consolas"/>
              </a:rPr>
              <a:t>, 0)
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1968" y="1298448"/>
            <a:ext cx="4983480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8624" y="1546113"/>
            <a:ext cx="196596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700" b="1" dirty="0">
                <a:solidFill>
                  <a:srgbClr val="232D3A"/>
                </a:solidFill>
                <a:latin typeface="Arial"/>
              </a:rPr>
              <a:t>Деталі алгоритму</a:t>
            </a:r>
            <a:endParaRPr sz="17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931152" y="2084831"/>
            <a:ext cx="310896" cy="310896"/>
          </a:xfrm>
          <a:prstGeom prst="ellipse">
            <a:avLst/>
          </a:prstGeom>
          <a:solidFill>
            <a:srgbClr val="00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075688"/>
            <a:ext cx="2898648" cy="181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80" b="1" dirty="0" err="1">
                <a:solidFill>
                  <a:srgbClr val="232D3A"/>
                </a:solidFill>
                <a:latin typeface="Arial"/>
              </a:rPr>
              <a:t>Один</a:t>
            </a:r>
            <a:r>
              <a:rPr sz="1180" b="1" dirty="0">
                <a:solidFill>
                  <a:srgbClr val="232D3A"/>
                </a:solidFill>
                <a:latin typeface="Arial"/>
              </a:rPr>
              <a:t> active alert </a:t>
            </a:r>
            <a:r>
              <a:rPr lang="uk-UA" sz="1180" b="1" dirty="0">
                <a:solidFill>
                  <a:srgbClr val="232D3A"/>
                </a:solidFill>
                <a:latin typeface="Arial"/>
              </a:rPr>
              <a:t>для авто й параметра</a:t>
            </a:r>
            <a:endParaRPr sz="118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60920" y="2295144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86576"/>
                </a:solidFill>
                <a:latin typeface="Arial"/>
              </a:rPr>
              <a:t>для vehicle_id + type не створюється набір дубльованих проблем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2788920"/>
            <a:ext cx="310896" cy="310896"/>
          </a:xfrm>
          <a:prstGeom prst="ellipse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79776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80" b="1">
                <a:solidFill>
                  <a:srgbClr val="232D3A"/>
                </a:solidFill>
                <a:latin typeface="Arial"/>
              </a:rPr>
              <a:t>Lifecycle замість простого insert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999232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86576"/>
                </a:solidFill>
                <a:latin typeface="Arial"/>
              </a:rPr>
              <a:t>created / escalated / reopened / existing / cleared</a:t>
            </a:r>
          </a:p>
        </p:txBody>
      </p:sp>
      <p:sp>
        <p:nvSpPr>
          <p:cNvPr id="25" name="Oval 24"/>
          <p:cNvSpPr/>
          <p:nvPr/>
        </p:nvSpPr>
        <p:spPr>
          <a:xfrm>
            <a:off x="6931152" y="3502152"/>
            <a:ext cx="310896" cy="310896"/>
          </a:xfrm>
          <a:prstGeom prst="ellipse">
            <a:avLst/>
          </a:prstGeom>
          <a:solidFill>
            <a:srgbClr val="00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49300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80" b="1">
                <a:solidFill>
                  <a:srgbClr val="232D3A"/>
                </a:solidFill>
                <a:latin typeface="Arial"/>
              </a:rPr>
              <a:t>Гістерезис стану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712464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86576"/>
                </a:solidFill>
                <a:latin typeface="Arial"/>
              </a:rPr>
              <a:t>normal має підтвердитися кількома послідовними вимірюваннями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4261104"/>
            <a:ext cx="310896" cy="310896"/>
          </a:xfrm>
          <a:prstGeom prst="ellipse">
            <a:avLst/>
          </a:prstGeom>
          <a:solidFill>
            <a:srgbClr val="0D3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251960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80" b="1">
                <a:solidFill>
                  <a:srgbClr val="232D3A"/>
                </a:solidFill>
                <a:latin typeface="Arial"/>
              </a:rPr>
              <a:t>Транзакційність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471416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86576"/>
                </a:solidFill>
                <a:latin typeface="Arial"/>
              </a:rPr>
              <a:t>оновлення alert виконується узгоджено з блокуванням lifecycle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507492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586576"/>
                </a:solidFill>
                <a:latin typeface="Arial"/>
              </a:rPr>
              <a:t>Стан: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42631" y="5010912"/>
            <a:ext cx="758952" cy="283464"/>
          </a:xfrm>
          <a:prstGeom prst="roundRect">
            <a:avLst/>
          </a:prstGeom>
          <a:solidFill>
            <a:srgbClr val="E8F9FC"/>
          </a:solidFill>
          <a:ln w="11430">
            <a:solidFill>
              <a:srgbClr val="00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950" b="1">
                <a:solidFill>
                  <a:srgbClr val="0082A0"/>
                </a:solidFill>
                <a:latin typeface="Arial"/>
              </a:rPr>
              <a:t>active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56448" y="5157216"/>
            <a:ext cx="457200" cy="0"/>
          </a:xfrm>
          <a:prstGeom prst="line">
            <a:avLst/>
          </a:prstGeom>
          <a:ln w="1651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86800" y="5010912"/>
            <a:ext cx="841248" cy="283464"/>
          </a:xfrm>
          <a:prstGeom prst="roundRect">
            <a:avLst/>
          </a:prstGeom>
          <a:solidFill>
            <a:srgbClr val="FFF2EA"/>
          </a:solidFill>
          <a:ln w="11430">
            <a:solidFill>
              <a:srgbClr val="F5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950" b="1">
                <a:solidFill>
                  <a:srgbClr val="CD5B19"/>
                </a:solidFill>
                <a:latin typeface="Arial"/>
              </a:rPr>
              <a:t>cleared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564624" y="5157216"/>
            <a:ext cx="466344" cy="0"/>
          </a:xfrm>
          <a:prstGeom prst="line">
            <a:avLst/>
          </a:prstGeom>
          <a:ln w="1651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04120" y="5010912"/>
            <a:ext cx="914400" cy="283464"/>
          </a:xfrm>
          <a:prstGeom prst="roundRect">
            <a:avLst/>
          </a:prstGeom>
          <a:solidFill>
            <a:srgbClr val="EDF4F9"/>
          </a:solidFill>
          <a:ln w="11430">
            <a:solidFill>
              <a:srgbClr val="0D3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950" b="1">
                <a:solidFill>
                  <a:srgbClr val="0D3E61"/>
                </a:solidFill>
                <a:latin typeface="Arial"/>
              </a:rPr>
              <a:t>resolved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57300" y="5806440"/>
            <a:ext cx="10104120" cy="438912"/>
          </a:xfrm>
          <a:prstGeom prst="roundRect">
            <a:avLst/>
          </a:prstGeom>
          <a:solidFill>
            <a:srgbClr val="FFF2EA"/>
          </a:solidFill>
          <a:ln w="12700">
            <a:solidFill>
              <a:srgbClr val="F5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21307" y="5934456"/>
            <a:ext cx="9646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0" b="0" dirty="0" err="1">
                <a:solidFill>
                  <a:srgbClr val="232D3A"/>
                </a:solidFill>
                <a:latin typeface="Arial"/>
              </a:rPr>
              <a:t>Результат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: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система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зберігає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кожне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вимірювання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,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але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керує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проблемою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як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одним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життєвим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циклом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, а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не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набором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дубльованих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active alert.</a:t>
            </a:r>
          </a:p>
        </p:txBody>
      </p:sp>
      <p:pic>
        <p:nvPicPr>
          <p:cNvPr id="39" name="Picture 3" descr="se_logo_cropped.png">
            <a:extLst>
              <a:ext uri="{FF2B5EF4-FFF2-40B4-BE49-F238E27FC236}">
                <a16:creationId xmlns:a16="http://schemas.microsoft.com/office/drawing/2014/main" id="{3D05BCC5-6C78-D47C-E5A9-C1F1FC877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40" name="Oval 4">
            <a:extLst>
              <a:ext uri="{FF2B5EF4-FFF2-40B4-BE49-F238E27FC236}">
                <a16:creationId xmlns:a16="http://schemas.microsoft.com/office/drawing/2014/main" id="{5E5898AE-150A-E2E2-1556-CF0267842745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  <a:r>
              <a:rPr lang="en-US" sz="1200" dirty="0">
                <a:solidFill>
                  <a:srgbClr val="0E3554"/>
                </a:solidFill>
                <a:latin typeface="Arial"/>
              </a:rPr>
              <a:t>1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Експериментальна перевірка та результати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Перевірено MQTT-обробку та REST API під навантаженням</a:t>
            </a:r>
            <a:endParaRPr lang="en-US" sz="134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960120" cy="36576"/>
          </a:xfrm>
          <a:prstGeom prst="rect">
            <a:avLst/>
          </a:prstGeom>
          <a:solidFill>
            <a:srgbClr val="F26F21"/>
          </a:solidFill>
          <a:ln w="12700">
            <a:solidFill>
              <a:srgbClr val="F26F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448056" y="1609344"/>
            <a:ext cx="54864" cy="676656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704088" y="168249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75688" y="167335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MQTT-повідомлень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помилок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215384" y="1481328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4251960" y="1609344"/>
            <a:ext cx="54864" cy="676656"/>
          </a:xfrm>
          <a:prstGeom prst="rect">
            <a:avLst/>
          </a:prstGeom>
          <a:solidFill>
            <a:schemeClr val="tx2"/>
          </a:solidFill>
          <a:ln w="12700">
            <a:solidFill>
              <a:srgbClr val="F26F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4507992" y="168249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79592" y="167335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IoT-пристроїв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різними device_uid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19288" y="1481328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8055864" y="1609344"/>
            <a:ext cx="54864" cy="676656"/>
          </a:xfrm>
          <a:prstGeom prst="rect">
            <a:avLst/>
          </a:prstGeom>
          <a:solidFill>
            <a:srgbClr val="228B3B"/>
          </a:solidFill>
          <a:ln w="12700">
            <a:solidFill>
              <a:srgbClr val="228B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8311896" y="168249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8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83496" y="167335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помилок під час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основних сценаріїв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411480" y="2633472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Shape 17"/>
          <p:cNvSpPr/>
          <p:nvPr/>
        </p:nvSpPr>
        <p:spPr>
          <a:xfrm>
            <a:off x="448056" y="2761488"/>
            <a:ext cx="54864" cy="676656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704088" y="28346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4 818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075688" y="2825496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HTTP-запитів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59 секунд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4215384" y="2633472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4251960" y="2761488"/>
            <a:ext cx="54864" cy="676656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4507992" y="28346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5,19 мс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879592" y="2825496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середній час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API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8019288" y="2633472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8055864" y="2761488"/>
            <a:ext cx="54864" cy="676656"/>
          </a:xfrm>
          <a:prstGeom prst="rect">
            <a:avLst/>
          </a:prstGeom>
          <a:solidFill>
            <a:srgbClr val="F26F21"/>
          </a:solidFill>
          <a:ln w="12700">
            <a:solidFill>
              <a:srgbClr val="F26F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8311896" y="28346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26F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80,97 RPS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683496" y="2825496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середня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інтенсивність</a:t>
            </a:r>
            <a:endParaRPr lang="en-US" sz="1320" dirty="0"/>
          </a:p>
        </p:txBody>
      </p:sp>
      <p:grpSp>
        <p:nvGrpSpPr>
          <p:cNvPr id="55" name="Групувати 54">
            <a:extLst>
              <a:ext uri="{FF2B5EF4-FFF2-40B4-BE49-F238E27FC236}">
                <a16:creationId xmlns:a16="http://schemas.microsoft.com/office/drawing/2014/main" id="{2EFC58B1-FEE2-A8D8-95FF-A9A36559CF55}"/>
              </a:ext>
            </a:extLst>
          </p:cNvPr>
          <p:cNvGrpSpPr/>
          <p:nvPr/>
        </p:nvGrpSpPr>
        <p:grpSpPr>
          <a:xfrm>
            <a:off x="411480" y="3758184"/>
            <a:ext cx="5650992" cy="2148840"/>
            <a:chOff x="411480" y="3913632"/>
            <a:chExt cx="5650992" cy="2148840"/>
          </a:xfrm>
        </p:grpSpPr>
        <p:sp>
          <p:nvSpPr>
            <p:cNvPr id="30" name="Shape 28"/>
            <p:cNvSpPr/>
            <p:nvPr/>
          </p:nvSpPr>
          <p:spPr>
            <a:xfrm>
              <a:off x="411480" y="3913632"/>
              <a:ext cx="5650992" cy="2148840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12700">
              <a:solidFill>
                <a:srgbClr val="D5DEE8"/>
              </a:solidFill>
              <a:prstDash val="solid"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1" name="Text 29"/>
            <p:cNvSpPr/>
            <p:nvPr/>
          </p:nvSpPr>
          <p:spPr>
            <a:xfrm>
              <a:off x="667512" y="4133088"/>
              <a:ext cx="51206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2530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Фрагмент результатів Locust</a:t>
              </a:r>
              <a:endParaRPr lang="en-US" sz="17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58368" y="4590288"/>
              <a:ext cx="5138928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>
              <a:solidFill>
                <a:srgbClr val="D5DEE8"/>
              </a:solidFill>
              <a:prstDash val="solid"/>
            </a:ln>
          </p:spPr>
          <p:txBody>
            <a:bodyPr/>
            <a:lstStyle/>
            <a:p>
              <a:endParaRPr lang="uk-UA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024128" y="4773168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80" b="1" dirty="0">
                  <a:solidFill>
                    <a:srgbClr val="2530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Name</a:t>
              </a:r>
              <a:endParaRPr lang="en-US" sz="108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2304288" y="4773168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80" b="1" dirty="0">
                  <a:solidFill>
                    <a:srgbClr val="2530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Requests</a:t>
              </a:r>
              <a:endParaRPr lang="en-US" sz="108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3264408" y="4773168"/>
              <a:ext cx="594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80" b="1" dirty="0">
                  <a:solidFill>
                    <a:srgbClr val="2530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Fails</a:t>
              </a:r>
              <a:endParaRPr lang="en-US" sz="108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986784" y="4773168"/>
              <a:ext cx="7772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80" b="1" dirty="0">
                  <a:solidFill>
                    <a:srgbClr val="2530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Avg (ms)</a:t>
              </a:r>
              <a:endParaRPr lang="en-US" sz="108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974336" y="4773168"/>
              <a:ext cx="502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80" b="1" dirty="0">
                  <a:solidFill>
                    <a:srgbClr val="2530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RPS</a:t>
              </a:r>
              <a:endParaRPr lang="en-US" sz="108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795528" y="5120640"/>
              <a:ext cx="4773168" cy="429768"/>
            </a:xfrm>
            <a:prstGeom prst="roundRect">
              <a:avLst>
                <a:gd name="adj" fmla="val 8511"/>
              </a:avLst>
            </a:prstGeom>
            <a:solidFill>
              <a:srgbClr val="EEF7FE"/>
            </a:solidFill>
            <a:ln w="8890">
              <a:solidFill>
                <a:srgbClr val="CFE2F1"/>
              </a:solidFill>
              <a:prstDash val="solid"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9" name="Text 37"/>
            <p:cNvSpPr/>
            <p:nvPr/>
          </p:nvSpPr>
          <p:spPr>
            <a:xfrm>
              <a:off x="987552" y="5193792"/>
              <a:ext cx="10058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2530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Aggregated</a:t>
              </a:r>
              <a:endParaRPr lang="en-US" sz="11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2395728" y="5193792"/>
              <a:ext cx="594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80" b="1" dirty="0">
                  <a:solidFill>
                    <a:srgbClr val="2530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4818</a:t>
              </a:r>
              <a:endParaRPr lang="en-US" sz="118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3410712" y="5193792"/>
              <a:ext cx="274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20" b="1" dirty="0">
                  <a:solidFill>
                    <a:srgbClr val="228B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</a:t>
              </a:r>
              <a:endParaRPr lang="en-US" sz="122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3986784" y="5193792"/>
              <a:ext cx="6400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80" b="1" dirty="0">
                  <a:solidFill>
                    <a:srgbClr val="00A6C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5,19 ms</a:t>
              </a:r>
              <a:endParaRPr lang="en-US" sz="118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773168" y="5193792"/>
              <a:ext cx="777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80" b="1" dirty="0">
                  <a:solidFill>
                    <a:srgbClr val="F26F2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80,97 RPS</a:t>
              </a:r>
              <a:endParaRPr lang="en-US" sz="1180" dirty="0"/>
            </a:p>
          </p:txBody>
        </p:sp>
      </p:grpSp>
      <p:sp>
        <p:nvSpPr>
          <p:cNvPr id="44" name="Shape 42"/>
          <p:cNvSpPr/>
          <p:nvPr/>
        </p:nvSpPr>
        <p:spPr>
          <a:xfrm>
            <a:off x="6391656" y="376732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5" name="Text 43"/>
          <p:cNvSpPr/>
          <p:nvPr/>
        </p:nvSpPr>
        <p:spPr>
          <a:xfrm>
            <a:off x="6633972" y="38953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Підсумок перевірки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633972" y="427939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MQTT-рівень обробив 10 000 повідомлень без втрат.</a:t>
            </a:r>
            <a:endParaRPr lang="en-US" sz="1270" dirty="0"/>
          </a:p>
        </p:txBody>
      </p:sp>
      <p:sp>
        <p:nvSpPr>
          <p:cNvPr id="49" name="Text 47"/>
          <p:cNvSpPr/>
          <p:nvPr/>
        </p:nvSpPr>
        <p:spPr>
          <a:xfrm>
            <a:off x="6633972" y="4626864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виконав 4 818 запитів без помилок.</a:t>
            </a:r>
            <a:endParaRPr lang="en-US" sz="1270" dirty="0"/>
          </a:p>
        </p:txBody>
      </p:sp>
      <p:sp>
        <p:nvSpPr>
          <p:cNvPr id="51" name="Text 49"/>
          <p:cNvSpPr/>
          <p:nvPr/>
        </p:nvSpPr>
        <p:spPr>
          <a:xfrm>
            <a:off x="6633972" y="4951476"/>
            <a:ext cx="4581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зберігала телеметрію, формувала alerts / notifications і залишалась стабільною.</a:t>
            </a:r>
            <a:endParaRPr lang="en-US" sz="1270" dirty="0"/>
          </a:p>
        </p:txBody>
      </p:sp>
      <p:grpSp>
        <p:nvGrpSpPr>
          <p:cNvPr id="56" name="Групувати 55">
            <a:extLst>
              <a:ext uri="{FF2B5EF4-FFF2-40B4-BE49-F238E27FC236}">
                <a16:creationId xmlns:a16="http://schemas.microsoft.com/office/drawing/2014/main" id="{E8F70EC3-705E-0333-D511-D9117012B5D6}"/>
              </a:ext>
            </a:extLst>
          </p:cNvPr>
          <p:cNvGrpSpPr/>
          <p:nvPr/>
        </p:nvGrpSpPr>
        <p:grpSpPr>
          <a:xfrm>
            <a:off x="6633972" y="5367528"/>
            <a:ext cx="4800600" cy="310896"/>
            <a:chOff x="6633972" y="5367528"/>
            <a:chExt cx="4800600" cy="310896"/>
          </a:xfrm>
        </p:grpSpPr>
        <p:sp>
          <p:nvSpPr>
            <p:cNvPr id="52" name="Shape 50"/>
            <p:cNvSpPr/>
            <p:nvPr/>
          </p:nvSpPr>
          <p:spPr>
            <a:xfrm>
              <a:off x="6633972" y="5367528"/>
              <a:ext cx="4800600" cy="310896"/>
            </a:xfrm>
            <a:prstGeom prst="roundRect">
              <a:avLst>
                <a:gd name="adj" fmla="val 11765"/>
              </a:avLst>
            </a:prstGeom>
            <a:solidFill>
              <a:srgbClr val="F0F7FE"/>
            </a:solidFill>
            <a:ln w="12700">
              <a:solidFill>
                <a:srgbClr val="BDD8F0"/>
              </a:solidFill>
              <a:prstDash val="solid"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3" name="Text 51"/>
            <p:cNvSpPr/>
            <p:nvPr/>
          </p:nvSpPr>
          <p:spPr>
            <a:xfrm>
              <a:off x="6780276" y="5431536"/>
              <a:ext cx="4343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0B35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Локальна перевірка підтвердила стабільність основних сценаріїв системи.</a:t>
              </a:r>
              <a:endParaRPr lang="en-US" sz="1080" dirty="0"/>
            </a:p>
          </p:txBody>
        </p:sp>
      </p:grpSp>
      <p:pic>
        <p:nvPicPr>
          <p:cNvPr id="54" name="Picture 3" descr="se_logo_cropped.png">
            <a:extLst>
              <a:ext uri="{FF2B5EF4-FFF2-40B4-BE49-F238E27FC236}">
                <a16:creationId xmlns:a16="http://schemas.microsoft.com/office/drawing/2014/main" id="{22950E38-1595-812E-A1FE-66D829E95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57" name="Oval 4">
            <a:extLst>
              <a:ext uri="{FF2B5EF4-FFF2-40B4-BE49-F238E27FC236}">
                <a16:creationId xmlns:a16="http://schemas.microsoft.com/office/drawing/2014/main" id="{03EFD549-B5C2-B553-D9D9-FEFA018735C8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  <a:r>
              <a:rPr lang="en-US" sz="1200" dirty="0">
                <a:solidFill>
                  <a:srgbClr val="0E3554"/>
                </a:solidFill>
                <a:latin typeface="Arial"/>
              </a:rPr>
              <a:t>2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5314275" cy="44627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uk-UA" sz="2300" b="1" dirty="0">
                <a:solidFill>
                  <a:srgbClr val="1F2933"/>
                </a:solidFill>
                <a:latin typeface="Arial"/>
              </a:rPr>
              <a:t>Апробація та публікація</a:t>
            </a:r>
            <a:r>
              <a:rPr sz="23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2300" b="1" dirty="0" err="1">
                <a:solidFill>
                  <a:srgbClr val="1F2933"/>
                </a:solidFill>
                <a:latin typeface="Arial"/>
              </a:rPr>
              <a:t>результатів</a:t>
            </a:r>
            <a:endParaRPr sz="2300" b="1" dirty="0">
              <a:solidFill>
                <a:srgbClr val="1F2933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8686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Arial"/>
              </a:rPr>
              <a:t>Публікація тез і участь у міжнародній конференції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15568"/>
            <a:ext cx="960120" cy="32004"/>
          </a:xfrm>
          <a:prstGeom prst="rect">
            <a:avLst/>
          </a:prstGeom>
          <a:solidFill>
            <a:srgbClr val="F2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4709160" cy="4526280"/>
          </a:xfrm>
          <a:prstGeom prst="roundRect">
            <a:avLst/>
          </a:prstGeom>
          <a:solidFill>
            <a:srgbClr val="F9FBFC"/>
          </a:solidFill>
          <a:ln w="1016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783080"/>
            <a:ext cx="4114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1F2933"/>
                </a:solidFill>
                <a:latin typeface="Arial"/>
              </a:rPr>
              <a:t>The Future of Science, Technology and Economy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38044"/>
            <a:ext cx="406908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20" b="0" dirty="0">
                <a:solidFill>
                  <a:srgbClr val="2F343A"/>
                </a:solidFill>
                <a:latin typeface="Arial"/>
              </a:rPr>
              <a:t>5-та </a:t>
            </a:r>
            <a:r>
              <a:rPr sz="1220" b="0" dirty="0" err="1">
                <a:solidFill>
                  <a:srgbClr val="2F343A"/>
                </a:solidFill>
                <a:latin typeface="Arial"/>
              </a:rPr>
              <a:t>Міжнародна</a:t>
            </a:r>
            <a:r>
              <a:rPr sz="1220" b="0" dirty="0">
                <a:solidFill>
                  <a:srgbClr val="2F343A"/>
                </a:solidFill>
                <a:latin typeface="Arial"/>
              </a:rPr>
              <a:t> </a:t>
            </a:r>
            <a:r>
              <a:rPr sz="1220" b="0" dirty="0" err="1">
                <a:solidFill>
                  <a:srgbClr val="2F343A"/>
                </a:solidFill>
                <a:latin typeface="Arial"/>
              </a:rPr>
              <a:t>науково-практична</a:t>
            </a:r>
            <a:r>
              <a:rPr sz="1220" b="0" dirty="0">
                <a:solidFill>
                  <a:srgbClr val="2F343A"/>
                </a:solidFill>
                <a:latin typeface="Arial"/>
              </a:rPr>
              <a:t> </a:t>
            </a:r>
            <a:r>
              <a:rPr sz="1220" b="0" dirty="0" err="1">
                <a:solidFill>
                  <a:srgbClr val="2F343A"/>
                </a:solidFill>
                <a:latin typeface="Arial"/>
              </a:rPr>
              <a:t>конференція</a:t>
            </a:r>
            <a:r>
              <a:rPr sz="1220" b="0" dirty="0">
                <a:solidFill>
                  <a:srgbClr val="2F343A"/>
                </a:solidFill>
                <a:latin typeface="Arial"/>
              </a:rPr>
              <a:t>
8–10 </a:t>
            </a:r>
            <a:r>
              <a:rPr sz="1220" b="0" dirty="0" err="1">
                <a:solidFill>
                  <a:srgbClr val="2F343A"/>
                </a:solidFill>
                <a:latin typeface="Arial"/>
              </a:rPr>
              <a:t>липня</a:t>
            </a:r>
            <a:r>
              <a:rPr sz="1220" b="0" dirty="0">
                <a:solidFill>
                  <a:srgbClr val="2F343A"/>
                </a:solidFill>
                <a:latin typeface="Arial"/>
              </a:rPr>
              <a:t> 2026 </a:t>
            </a:r>
            <a:r>
              <a:rPr sz="1220" b="0" dirty="0" err="1">
                <a:solidFill>
                  <a:srgbClr val="2F343A"/>
                </a:solidFill>
                <a:latin typeface="Arial"/>
              </a:rPr>
              <a:t>року</a:t>
            </a:r>
            <a:r>
              <a:rPr sz="1220" b="0" dirty="0">
                <a:solidFill>
                  <a:srgbClr val="2F343A"/>
                </a:solidFill>
                <a:latin typeface="Arial"/>
              </a:rPr>
              <a:t>, </a:t>
            </a:r>
            <a:r>
              <a:rPr sz="1220" b="0" dirty="0" err="1">
                <a:solidFill>
                  <a:srgbClr val="2F343A"/>
                </a:solidFill>
                <a:latin typeface="Arial"/>
              </a:rPr>
              <a:t>Софія</a:t>
            </a:r>
            <a:r>
              <a:rPr sz="1220" b="0" dirty="0">
                <a:solidFill>
                  <a:srgbClr val="2F343A"/>
                </a:solidFill>
                <a:latin typeface="Arial"/>
              </a:rPr>
              <a:t>, </a:t>
            </a:r>
            <a:r>
              <a:rPr sz="1220" b="0" dirty="0" err="1">
                <a:solidFill>
                  <a:srgbClr val="2F343A"/>
                </a:solidFill>
                <a:latin typeface="Arial"/>
              </a:rPr>
              <a:t>Болгарія</a:t>
            </a:r>
            <a:endParaRPr sz="1220" b="0" dirty="0">
              <a:solidFill>
                <a:srgbClr val="2F343A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3584448"/>
            <a:ext cx="406908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50" b="1" dirty="0">
                <a:solidFill>
                  <a:srgbClr val="1F2933"/>
                </a:solidFill>
                <a:latin typeface="Arial"/>
              </a:rPr>
              <a:t>«</a:t>
            </a:r>
            <a:r>
              <a:rPr sz="1250" b="1" dirty="0" err="1">
                <a:solidFill>
                  <a:srgbClr val="1F2933"/>
                </a:solidFill>
                <a:latin typeface="Arial"/>
              </a:rPr>
              <a:t>Програмна</a:t>
            </a:r>
            <a:r>
              <a:rPr sz="125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F2933"/>
                </a:solidFill>
                <a:latin typeface="Arial"/>
              </a:rPr>
              <a:t>система</a:t>
            </a:r>
            <a:r>
              <a:rPr sz="125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F2933"/>
                </a:solidFill>
                <a:latin typeface="Arial"/>
              </a:rPr>
              <a:t>моніторингу</a:t>
            </a:r>
            <a:r>
              <a:rPr sz="125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F2933"/>
                </a:solidFill>
                <a:latin typeface="Arial"/>
              </a:rPr>
              <a:t>технічного</a:t>
            </a:r>
            <a:r>
              <a:rPr sz="125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F2933"/>
                </a:solidFill>
                <a:latin typeface="Arial"/>
              </a:rPr>
              <a:t>стану</a:t>
            </a:r>
            <a:r>
              <a:rPr sz="125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F2933"/>
                </a:solidFill>
                <a:latin typeface="Arial"/>
              </a:rPr>
              <a:t>автомобіля</a:t>
            </a:r>
            <a:r>
              <a:rPr sz="1250" b="1" dirty="0">
                <a:solidFill>
                  <a:srgbClr val="1F2933"/>
                </a:solidFill>
                <a:latin typeface="Arial"/>
              </a:rPr>
              <a:t> з </a:t>
            </a:r>
            <a:r>
              <a:rPr sz="1250" b="1" dirty="0" err="1">
                <a:solidFill>
                  <a:srgbClr val="1F2933"/>
                </a:solidFill>
                <a:latin typeface="Arial"/>
              </a:rPr>
              <a:t>використанням</a:t>
            </a:r>
            <a:r>
              <a:rPr sz="1250" b="1" dirty="0">
                <a:solidFill>
                  <a:srgbClr val="1F2933"/>
                </a:solidFill>
                <a:latin typeface="Arial"/>
              </a:rPr>
              <a:t> IoT»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498848"/>
            <a:ext cx="40690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 dirty="0" err="1">
                <a:solidFill>
                  <a:srgbClr val="6B7280"/>
                </a:solidFill>
                <a:latin typeface="Arial"/>
              </a:rPr>
              <a:t>Автори</a:t>
            </a:r>
            <a:r>
              <a:rPr sz="1100" b="0" dirty="0">
                <a:solidFill>
                  <a:srgbClr val="6B7280"/>
                </a:solidFill>
                <a:latin typeface="Arial"/>
              </a:rPr>
              <a:t>: </a:t>
            </a:r>
            <a:r>
              <a:rPr sz="1100" b="0" dirty="0" err="1">
                <a:solidFill>
                  <a:srgbClr val="6B7280"/>
                </a:solidFill>
                <a:latin typeface="Arial"/>
              </a:rPr>
              <a:t>Новомлинський</a:t>
            </a:r>
            <a:r>
              <a:rPr sz="1100" b="0" dirty="0">
                <a:solidFill>
                  <a:srgbClr val="6B7280"/>
                </a:solidFill>
                <a:latin typeface="Arial"/>
              </a:rPr>
              <a:t> В. І., </a:t>
            </a:r>
            <a:r>
              <a:rPr sz="1100" b="0" dirty="0" err="1">
                <a:solidFill>
                  <a:srgbClr val="6B7280"/>
                </a:solidFill>
                <a:latin typeface="Arial"/>
              </a:rPr>
              <a:t>Вечур</a:t>
            </a:r>
            <a:r>
              <a:rPr sz="1100" b="0" dirty="0">
                <a:solidFill>
                  <a:srgbClr val="6B7280"/>
                </a:solidFill>
                <a:latin typeface="Arial"/>
              </a:rPr>
              <a:t> О. В.
Proceedings, pp. 112–116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412194"/>
            <a:ext cx="5577840" cy="45337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Віктор Новомлинський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83080"/>
            <a:ext cx="5212080" cy="36825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93572" y="1445754"/>
            <a:ext cx="502920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 dirty="0" err="1">
                <a:solidFill>
                  <a:srgbClr val="6B7280"/>
                </a:solidFill>
                <a:latin typeface="Arial"/>
              </a:rPr>
              <a:t>Сертифікат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учасника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конференції</a:t>
            </a:r>
            <a:endParaRPr sz="1200" b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18" name="Oval 4">
            <a:extLst>
              <a:ext uri="{FF2B5EF4-FFF2-40B4-BE49-F238E27FC236}">
                <a16:creationId xmlns:a16="http://schemas.microsoft.com/office/drawing/2014/main" id="{8F43A8F9-EBAA-95D4-D377-2D7A8C6BD865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  <a:r>
              <a:rPr lang="en-US" sz="1200" dirty="0">
                <a:solidFill>
                  <a:srgbClr val="0E3554"/>
                </a:solidFill>
                <a:latin typeface="Arial"/>
              </a:rPr>
              <a:t>3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pic>
        <p:nvPicPr>
          <p:cNvPr id="19" name="Picture 3" descr="se_logo_cropped.png">
            <a:extLst>
              <a:ext uri="{FF2B5EF4-FFF2-40B4-BE49-F238E27FC236}">
                <a16:creationId xmlns:a16="http://schemas.microsoft.com/office/drawing/2014/main" id="{DE4769BF-A2A4-983A-26DE-13EFA96C7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1136DC-154F-FEA2-734A-D8A15840218C}"/>
              </a:ext>
            </a:extLst>
          </p:cNvPr>
          <p:cNvSpPr txBox="1"/>
          <p:nvPr/>
        </p:nvSpPr>
        <p:spPr>
          <a:xfrm>
            <a:off x="902970" y="3238979"/>
            <a:ext cx="1767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1F2933"/>
                </a:solidFill>
                <a:latin typeface="Arial"/>
              </a:rPr>
              <a:t>Опубліковано</a:t>
            </a:r>
            <a:r>
              <a:rPr lang="ru-RU" sz="1400" dirty="0">
                <a:solidFill>
                  <a:srgbClr val="1F2933"/>
                </a:solidFill>
                <a:latin typeface="Arial"/>
              </a:rPr>
              <a:t> </a:t>
            </a:r>
            <a:r>
              <a:rPr lang="ru-RU" sz="1400" dirty="0" err="1">
                <a:solidFill>
                  <a:srgbClr val="1F2933"/>
                </a:solidFill>
                <a:latin typeface="Arial"/>
              </a:rPr>
              <a:t>тези</a:t>
            </a:r>
            <a:r>
              <a:rPr lang="en-US" sz="1400" dirty="0">
                <a:solidFill>
                  <a:srgbClr val="1F2933"/>
                </a:solidFill>
                <a:latin typeface="Arial"/>
              </a:rPr>
              <a:t>:</a:t>
            </a:r>
            <a:endParaRPr lang="ru-RU" sz="1400" dirty="0">
              <a:solidFill>
                <a:srgbClr val="1F293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09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420624"/>
            <a:ext cx="91440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22D39"/>
                </a:solidFill>
                <a:latin typeface="Arial"/>
              </a:rPr>
              <a:t>Висновки та подальший розвиток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0">
                <a:solidFill>
                  <a:srgbClr val="5C6879"/>
                </a:solidFill>
                <a:latin typeface="Arial"/>
              </a:rPr>
              <a:t>Що реалізовано та як можна розвивати систему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1078992" cy="36576"/>
          </a:xfrm>
          <a:prstGeom prst="rect">
            <a:avLst/>
          </a:prstGeom>
          <a:solidFill>
            <a:srgbClr val="F5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Групувати 20">
            <a:extLst>
              <a:ext uri="{FF2B5EF4-FFF2-40B4-BE49-F238E27FC236}">
                <a16:creationId xmlns:a16="http://schemas.microsoft.com/office/drawing/2014/main" id="{54BB0834-06D6-A760-C497-A53E2B0D2241}"/>
              </a:ext>
            </a:extLst>
          </p:cNvPr>
          <p:cNvGrpSpPr/>
          <p:nvPr/>
        </p:nvGrpSpPr>
        <p:grpSpPr>
          <a:xfrm>
            <a:off x="1002791" y="1997964"/>
            <a:ext cx="10186416" cy="960120"/>
            <a:chOff x="969264" y="2487168"/>
            <a:chExt cx="10186416" cy="960120"/>
          </a:xfrm>
        </p:grpSpPr>
        <p:sp>
          <p:nvSpPr>
            <p:cNvPr id="10" name="TextBox 9"/>
            <p:cNvSpPr txBox="1"/>
            <p:nvPr/>
          </p:nvSpPr>
          <p:spPr>
            <a:xfrm>
              <a:off x="969264" y="2496312"/>
              <a:ext cx="210312" cy="2560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900" b="0" dirty="0">
                  <a:solidFill>
                    <a:srgbClr val="000000"/>
                  </a:solidFill>
                  <a:latin typeface="Arial"/>
                </a:rPr>
                <a:t>•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98448" y="2487168"/>
              <a:ext cx="9857232" cy="9601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Розроблена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програмна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система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Autonexis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підтверджує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практичну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доцільність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
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моніторингу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технічного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стану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автомобіля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з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використанням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IoT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та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забезпечує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
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повний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шлях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від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телеметрії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до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сервісної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дії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.</a:t>
              </a:r>
            </a:p>
          </p:txBody>
        </p:sp>
      </p:grpSp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2D88EBF7-46B6-21FA-026E-2642929E4235}"/>
              </a:ext>
            </a:extLst>
          </p:cNvPr>
          <p:cNvGrpSpPr/>
          <p:nvPr/>
        </p:nvGrpSpPr>
        <p:grpSpPr>
          <a:xfrm>
            <a:off x="1002791" y="2994660"/>
            <a:ext cx="10186416" cy="960120"/>
            <a:chOff x="969264" y="3767328"/>
            <a:chExt cx="10186416" cy="960120"/>
          </a:xfrm>
        </p:grpSpPr>
        <p:sp>
          <p:nvSpPr>
            <p:cNvPr id="12" name="TextBox 11"/>
            <p:cNvSpPr txBox="1"/>
            <p:nvPr/>
          </p:nvSpPr>
          <p:spPr>
            <a:xfrm>
              <a:off x="969264" y="3776472"/>
              <a:ext cx="210312" cy="2560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900" b="0">
                  <a:solidFill>
                    <a:srgbClr val="000000"/>
                  </a:solidFill>
                  <a:latin typeface="Arial"/>
                </a:rPr>
                <a:t>•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98448" y="3767328"/>
              <a:ext cx="9857232" cy="9601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Реалізовано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backend,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вебзастосунок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і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мобільний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застосунок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;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експериментальна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
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перевірка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підтвердила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стабільну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обробку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MQTT-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телеметрії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, REST API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та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основних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
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користувацьких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сценаріїв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.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51C391C0-F12B-9769-2334-2AD0083FC82C}"/>
              </a:ext>
            </a:extLst>
          </p:cNvPr>
          <p:cNvGrpSpPr/>
          <p:nvPr/>
        </p:nvGrpSpPr>
        <p:grpSpPr>
          <a:xfrm>
            <a:off x="978408" y="4047136"/>
            <a:ext cx="10186416" cy="658368"/>
            <a:chOff x="969264" y="5010912"/>
            <a:chExt cx="10186416" cy="658368"/>
          </a:xfrm>
        </p:grpSpPr>
        <p:sp>
          <p:nvSpPr>
            <p:cNvPr id="14" name="TextBox 13"/>
            <p:cNvSpPr txBox="1"/>
            <p:nvPr/>
          </p:nvSpPr>
          <p:spPr>
            <a:xfrm>
              <a:off x="969264" y="5020056"/>
              <a:ext cx="210312" cy="2560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900" b="0" dirty="0">
                  <a:solidFill>
                    <a:srgbClr val="000000"/>
                  </a:solidFill>
                  <a:latin typeface="Arial"/>
                </a:rPr>
                <a:t>•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98448" y="5010912"/>
              <a:ext cx="9857232" cy="6583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Подальший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розвиток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передбачає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інтеграцію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з OBD-II / CAN, production-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розгортання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,
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зовнішні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push-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сповіщення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та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розширену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аналітику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sz="1860" b="0" dirty="0" err="1">
                  <a:solidFill>
                    <a:srgbClr val="000000"/>
                  </a:solidFill>
                  <a:latin typeface="Arial"/>
                </a:rPr>
                <a:t>телеметрії</a:t>
              </a:r>
              <a:r>
                <a:rPr sz="1860" b="0" dirty="0">
                  <a:solidFill>
                    <a:srgbClr val="000000"/>
                  </a:solidFill>
                  <a:latin typeface="Arial"/>
                </a:rPr>
                <a:t>.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D0F02B44-A70C-F75C-AD26-C67F4B0AE5FB}"/>
              </a:ext>
            </a:extLst>
          </p:cNvPr>
          <p:cNvGrpSpPr/>
          <p:nvPr/>
        </p:nvGrpSpPr>
        <p:grpSpPr>
          <a:xfrm>
            <a:off x="877824" y="4884728"/>
            <a:ext cx="10287000" cy="448056"/>
            <a:chOff x="877824" y="5897880"/>
            <a:chExt cx="10287000" cy="448056"/>
          </a:xfrm>
        </p:grpSpPr>
        <p:sp>
          <p:nvSpPr>
            <p:cNvPr id="16" name="Rectangle 15"/>
            <p:cNvSpPr/>
            <p:nvPr/>
          </p:nvSpPr>
          <p:spPr>
            <a:xfrm>
              <a:off x="877824" y="5897880"/>
              <a:ext cx="10287000" cy="10972"/>
            </a:xfrm>
            <a:prstGeom prst="rect">
              <a:avLst/>
            </a:prstGeom>
            <a:solidFill>
              <a:srgbClr val="CED8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98448" y="6099048"/>
              <a:ext cx="8961120" cy="246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Autonexis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 </a:t>
              </a:r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демонструє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 </a:t>
              </a:r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цілісний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 </a:t>
              </a:r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підхід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 </a:t>
              </a:r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до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 </a:t>
              </a:r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моніторингу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 </a:t>
              </a:r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технічного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 </a:t>
              </a:r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стану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 </a:t>
              </a:r>
              <a:r>
                <a:rPr sz="1550" b="0" dirty="0" err="1">
                  <a:solidFill>
                    <a:srgbClr val="222D39"/>
                  </a:solidFill>
                  <a:latin typeface="Arial"/>
                </a:rPr>
                <a:t>автомобіля</a:t>
              </a:r>
              <a:r>
                <a:rPr sz="1550" b="0" dirty="0">
                  <a:solidFill>
                    <a:srgbClr val="222D39"/>
                  </a:solidFill>
                  <a:latin typeface="Arial"/>
                </a:rPr>
                <a:t>.</a:t>
              </a:r>
            </a:p>
          </p:txBody>
        </p:sp>
      </p:grpSp>
      <p:pic>
        <p:nvPicPr>
          <p:cNvPr id="25" name="Picture 3" descr="se_logo_cropped.png">
            <a:extLst>
              <a:ext uri="{FF2B5EF4-FFF2-40B4-BE49-F238E27FC236}">
                <a16:creationId xmlns:a16="http://schemas.microsoft.com/office/drawing/2014/main" id="{420597E4-7A6F-11A7-5C9D-31F830C4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26" name="Oval 4">
            <a:extLst>
              <a:ext uri="{FF2B5EF4-FFF2-40B4-BE49-F238E27FC236}">
                <a16:creationId xmlns:a16="http://schemas.microsoft.com/office/drawing/2014/main" id="{5A1B8B44-FB80-F3B3-A750-DA88D6498DFD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  <a:r>
              <a:rPr lang="en-US" sz="1200" dirty="0">
                <a:solidFill>
                  <a:srgbClr val="0E3554"/>
                </a:solidFill>
                <a:latin typeface="Arial"/>
              </a:rPr>
              <a:t>4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1702</Words>
  <Application>Microsoft Office PowerPoint</Application>
  <PresentationFormat>Широкий екран</PresentationFormat>
  <Paragraphs>386</Paragraphs>
  <Slides>14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Autonexis — презентація захисту v2</dc:title>
  <dc:subject>Кваліфікаційна робота бакалавра</dc:subject>
  <dc:creator>Новомлинський В. І.</dc:creator>
  <cp:keywords/>
  <dc:description>generated using python-pptx</dc:description>
  <cp:lastModifiedBy>Victor 85</cp:lastModifiedBy>
  <cp:revision>50</cp:revision>
  <dcterms:created xsi:type="dcterms:W3CDTF">2013-01-27T09:14:16Z</dcterms:created>
  <dcterms:modified xsi:type="dcterms:W3CDTF">2026-07-10T12:21:00Z</dcterms:modified>
  <cp:category/>
</cp:coreProperties>
</file>